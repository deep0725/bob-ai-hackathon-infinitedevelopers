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1" r:id="rId6"/>
    <p:sldId id="260"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265" autoAdjust="0"/>
    <p:restoredTop sz="94610"/>
  </p:normalViewPr>
  <p:slideViewPr>
    <p:cSldViewPr snapToGrid="0" snapToObjects="1">
      <p:cViewPr>
        <p:scale>
          <a:sx n="100" d="100"/>
          <a:sy n="100" d="100"/>
        </p:scale>
        <p:origin x="365"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4903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PharmaGuard. We are InfiniteDevelopers, and today we're presenting a solution for one of the most critical challenges in the pharmaceutical industry: drug safety and regulatory readiness. PharmaGuard is designed to turn complex pharmacovigilance data into actionable safety signals and submission-ready insights.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we address is the pharmacovigilance decision bottleneck. Safety data is massive and unstructured, making manual analysis slow and prone to oversight. Early signals are often buried in noise, and regulatory readiness requires cross-referencing multiple complex modules, leading to inconsistency and delays.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PharmaGuard provides a unified workflow. From safety data input, we automate signal detection and risk analysis. We've built an AI-assisted insight boundary that leads into regulatory readiness checks, all surfaced through an actionable dashboard for pharmacovigilance teams.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is transparent and browser-based. We process CSV and text data directly in the application, applying PRR and Chi-square statistics for signal detection. The tech stack includes JavaScript, PapaParse for data handling, and Chart.js for visualization, with a planned integration layer for IBM watsonx.ai.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working prototype. On the left, you see our safety signal dashboard flagging disproportionate reporting patterns. On the right, our regulatory readiness mapper identifies critical gaps in CTD modules, such as missing stability data or clinical study reports, with an overall readiness score.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transparent about our AI integration. The current prototype uses robust statistical logic for signal detection, including PRR and trend analysis. We've identified IBM watsonx.ai as the strategic layer for the future, where it will interpret these statistical findings into natural language insights and automate dossier synthesis.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PharmaGuard delivers immediate impact through rapid signal identification and reduced manual effort. It is highly feasible due to its lightweight, modular architecture. Looking ahead, we plan to integrate real-world FDA datasets and full IBM watsonx.ai insight generation.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grounded our work in ICH M4 and FDA standards. PharmaGuard is about turning drug safety data into actionable intelligence. We are InfiniteDevelopers, and you can find our work at the link below. Thank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342900" y="1374167"/>
            <a:ext cx="7000875" cy="597173"/>
          </a:xfrm>
          <a:prstGeom prst="rect">
            <a:avLst/>
          </a:prstGeom>
          <a:noFill/>
          <a:ln/>
        </p:spPr>
        <p:txBody>
          <a:bodyPr wrap="none" lIns="0" tIns="0" rIns="0" bIns="0" rtlCol="0" anchor="t">
            <a:spAutoFit/>
          </a:bodyPr>
          <a:lstStyle/>
          <a:p>
            <a:pPr marL="0" indent="0" algn="l">
              <a:lnSpc>
                <a:spcPct val="88000"/>
              </a:lnSpc>
              <a:buNone/>
            </a:pPr>
            <a:r>
              <a:rPr lang="en-US" sz="3950" b="1" dirty="0">
                <a:solidFill>
                  <a:srgbClr val="0B1E36"/>
                </a:solidFill>
                <a:latin typeface="Calibri" pitchFamily="34" charset="0"/>
                <a:ea typeface="Space Grotesk Bold" pitchFamily="34" charset="-122"/>
                <a:cs typeface="Space Grotesk Bold" pitchFamily="34" charset="-120"/>
              </a:rPr>
              <a:t>PharmaGuard</a:t>
            </a:r>
            <a:endParaRPr lang="en-US" sz="3950" dirty="0"/>
          </a:p>
        </p:txBody>
      </p:sp>
      <p:sp>
        <p:nvSpPr>
          <p:cNvPr id="5" name="Text 1"/>
          <p:cNvSpPr/>
          <p:nvPr/>
        </p:nvSpPr>
        <p:spPr>
          <a:xfrm>
            <a:off x="342900" y="2085640"/>
            <a:ext cx="7000875" cy="257175"/>
          </a:xfrm>
          <a:prstGeom prst="rect">
            <a:avLst/>
          </a:prstGeom>
          <a:noFill/>
          <a:ln/>
        </p:spPr>
        <p:txBody>
          <a:bodyPr wrap="square" lIns="0" tIns="0" rIns="0" bIns="0" rtlCol="0" anchor="t">
            <a:spAutoFit/>
          </a:bodyPr>
          <a:lstStyle/>
          <a:p>
            <a:pPr marL="0" indent="0" algn="l">
              <a:buNone/>
            </a:pPr>
            <a:r>
              <a:rPr lang="en-US" sz="1500" b="1" dirty="0">
                <a:solidFill>
                  <a:srgbClr val="007A86"/>
                </a:solidFill>
                <a:latin typeface="Calibri" pitchFamily="34" charset="0"/>
                <a:ea typeface="Inter SemiBold" pitchFamily="34" charset="-122"/>
                <a:cs typeface="Inter SemiBold" pitchFamily="34" charset="-120"/>
              </a:rPr>
              <a:t>Drug Safety Signal Detection &amp; Regulatory Readiness Assistant</a:t>
            </a:r>
            <a:endParaRPr lang="en-US" sz="1500" dirty="0"/>
          </a:p>
        </p:txBody>
      </p:sp>
      <p:sp>
        <p:nvSpPr>
          <p:cNvPr id="6" name="Text 2"/>
          <p:cNvSpPr/>
          <p:nvPr/>
        </p:nvSpPr>
        <p:spPr>
          <a:xfrm>
            <a:off x="342900" y="2614278"/>
            <a:ext cx="7000875" cy="479971"/>
          </a:xfrm>
          <a:prstGeom prst="rect">
            <a:avLst/>
          </a:prstGeom>
          <a:noFill/>
          <a:ln/>
        </p:spPr>
        <p:txBody>
          <a:bodyPr wrap="square" lIns="204089" tIns="0" rIns="0" bIns="0" rtlCol="0" anchor="t">
            <a:spAutoFit/>
          </a:bodyPr>
          <a:lstStyle/>
          <a:p>
            <a:pPr marL="0" indent="0" algn="l">
              <a:lnSpc>
                <a:spcPct val="112000"/>
              </a:lnSpc>
              <a:buNone/>
            </a:pPr>
            <a:r>
              <a:rPr lang="en-US" sz="1250" dirty="0">
                <a:solidFill>
                  <a:srgbClr val="4A5568"/>
                </a:solidFill>
                <a:latin typeface="Calibri" pitchFamily="34" charset="0"/>
                <a:ea typeface="Inter" pitchFamily="34" charset="-122"/>
                <a:cs typeface="Inter" pitchFamily="34" charset="-120"/>
              </a:rPr>
              <a:t>Turning complex pharmacovigilance data into actionable safety signals and submission-ready insights.</a:t>
            </a:r>
            <a:endParaRPr lang="en-US" sz="1250" dirty="0"/>
          </a:p>
        </p:txBody>
      </p:sp>
      <p:sp>
        <p:nvSpPr>
          <p:cNvPr id="7" name="Text 3"/>
          <p:cNvSpPr/>
          <p:nvPr/>
        </p:nvSpPr>
        <p:spPr>
          <a:xfrm>
            <a:off x="342900" y="3437148"/>
            <a:ext cx="1721644" cy="161583"/>
          </a:xfrm>
          <a:prstGeom prst="rect">
            <a:avLst/>
          </a:prstGeom>
          <a:noFill/>
          <a:ln/>
        </p:spPr>
        <p:txBody>
          <a:bodyPr wrap="square" lIns="0" tIns="0" rIns="0" bIns="0" rtlCol="0" anchor="t">
            <a:spAutoFit/>
          </a:bodyPr>
          <a:lstStyle/>
          <a:p>
            <a:pPr marL="0" indent="0" algn="l">
              <a:buNone/>
            </a:pPr>
            <a:r>
              <a:rPr lang="en-US" sz="1000" b="1" dirty="0">
                <a:solidFill>
                  <a:srgbClr val="0B1E36"/>
                </a:solidFill>
                <a:latin typeface="Calibri" pitchFamily="34" charset="0"/>
                <a:ea typeface="Inter SemiBold" pitchFamily="34" charset="-122"/>
                <a:cs typeface="Inter SemiBold" pitchFamily="34" charset="-120"/>
              </a:rPr>
              <a:t>Team:</a:t>
            </a:r>
            <a:r>
              <a:rPr lang="en-US" sz="1050" dirty="0">
                <a:solidFill>
                  <a:srgbClr val="0B1E36"/>
                </a:solidFill>
                <a:latin typeface="Calibri" pitchFamily="34" charset="0"/>
                <a:ea typeface="Inter" pitchFamily="34" charset="-122"/>
                <a:cs typeface="Inter" pitchFamily="34" charset="-120"/>
              </a:rPr>
              <a:t> </a:t>
            </a:r>
            <a:r>
              <a:rPr lang="en-US" sz="1000" b="1" dirty="0">
                <a:solidFill>
                  <a:srgbClr val="007A86"/>
                </a:solidFill>
                <a:latin typeface="Calibri" pitchFamily="34" charset="0"/>
                <a:ea typeface="Inter SemiBold" pitchFamily="34" charset="-122"/>
                <a:cs typeface="Inter SemiBold" pitchFamily="34" charset="-120"/>
              </a:rPr>
              <a:t>Infinite Developers</a:t>
            </a:r>
            <a:endParaRPr lang="en-US" sz="1000" dirty="0"/>
          </a:p>
        </p:txBody>
      </p:sp>
      <p:sp>
        <p:nvSpPr>
          <p:cNvPr id="8" name="Text 4"/>
          <p:cNvSpPr/>
          <p:nvPr/>
        </p:nvSpPr>
        <p:spPr>
          <a:xfrm>
            <a:off x="2407444" y="3437148"/>
            <a:ext cx="2039541" cy="153888"/>
          </a:xfrm>
          <a:prstGeom prst="rect">
            <a:avLst/>
          </a:prstGeom>
          <a:noFill/>
          <a:ln/>
        </p:spPr>
        <p:txBody>
          <a:bodyPr wrap="square" lIns="0" tIns="0" rIns="0" bIns="0" rtlCol="0" anchor="t">
            <a:spAutoFit/>
          </a:bodyPr>
          <a:lstStyle/>
          <a:p>
            <a:pPr marL="0" indent="0" algn="l">
              <a:buNone/>
            </a:pPr>
            <a:endParaRPr lang="en-US" sz="1000" dirty="0"/>
          </a:p>
        </p:txBody>
      </p:sp>
      <p:sp>
        <p:nvSpPr>
          <p:cNvPr id="9" name="Text 5"/>
          <p:cNvSpPr/>
          <p:nvPr/>
        </p:nvSpPr>
        <p:spPr>
          <a:xfrm>
            <a:off x="342900" y="4643438"/>
            <a:ext cx="915315" cy="138499"/>
          </a:xfrm>
          <a:prstGeom prst="rect">
            <a:avLst/>
          </a:prstGeom>
          <a:noFill/>
          <a:ln/>
        </p:spPr>
        <p:txBody>
          <a:bodyPr wrap="none" lIns="0" tIns="0" rIns="0" bIns="0" rtlCol="0" anchor="t">
            <a:spAutoFit/>
          </a:bodyPr>
          <a:lstStyle/>
          <a:p>
            <a:pPr marL="0" indent="0" algn="l">
              <a:buNone/>
            </a:pPr>
            <a:r>
              <a:rPr lang="en-US" sz="900" b="1" dirty="0">
                <a:solidFill>
                  <a:srgbClr val="007A86"/>
                </a:solidFill>
                <a:latin typeface="Calibri" pitchFamily="34" charset="0"/>
                <a:ea typeface="Inter SemiBold" pitchFamily="34" charset="-122"/>
                <a:cs typeface="Inter SemiBold" pitchFamily="34" charset="-120"/>
              </a:rPr>
              <a:t>Infinite Developers</a:t>
            </a:r>
            <a:endParaRPr lang="en-US" sz="900" dirty="0"/>
          </a:p>
        </p:txBody>
      </p:sp>
      <p:sp>
        <p:nvSpPr>
          <p:cNvPr id="10" name="Text 6"/>
          <p:cNvSpPr/>
          <p:nvPr/>
        </p:nvSpPr>
        <p:spPr>
          <a:xfrm>
            <a:off x="8697516" y="4679156"/>
            <a:ext cx="103584" cy="121444"/>
          </a:xfrm>
          <a:prstGeom prst="rect">
            <a:avLst/>
          </a:prstGeom>
          <a:noFill/>
          <a:ln/>
        </p:spPr>
        <p:txBody>
          <a:bodyPr wrap="none" lIns="0" tIns="0" rIns="0" bIns="0" rtlCol="0" anchor="t">
            <a:spAutoFit/>
          </a:bodyPr>
          <a:lstStyle/>
          <a:p>
            <a:pPr marL="0" indent="0" algn="l">
              <a:buNone/>
            </a:pPr>
            <a:r>
              <a:rPr lang="en-US" sz="750" dirty="0">
                <a:solidFill>
                  <a:srgbClr val="0B1E36">
                    <a:alpha val="50000"/>
                  </a:srgbClr>
                </a:solidFill>
                <a:latin typeface="Calibri" pitchFamily="34" charset="0"/>
                <a:ea typeface="Inter" pitchFamily="34" charset="-122"/>
                <a:cs typeface="Inter" pitchFamily="34" charset="-120"/>
              </a:rPr>
              <a:t>01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342900" y="342900"/>
            <a:ext cx="8458200" cy="275034"/>
          </a:xfrm>
          <a:prstGeom prst="rect">
            <a:avLst/>
          </a:prstGeom>
          <a:noFill/>
          <a:ln/>
        </p:spPr>
        <p:txBody>
          <a:bodyPr wrap="square" lIns="0" tIns="0" rIns="0" bIns="0" rtlCol="0" anchor="t">
            <a:spAutoFit/>
          </a:bodyPr>
          <a:lstStyle/>
          <a:p>
            <a:pPr marL="0" indent="0" algn="l">
              <a:buNone/>
            </a:pPr>
            <a:r>
              <a:rPr lang="en-US" sz="1600" b="1" dirty="0">
                <a:solidFill>
                  <a:srgbClr val="0B1E36"/>
                </a:solidFill>
                <a:latin typeface="Calibri" pitchFamily="34" charset="0"/>
                <a:ea typeface="Inter SemiBold" pitchFamily="34" charset="-122"/>
                <a:cs typeface="Inter SemiBold" pitchFamily="34" charset="-120"/>
              </a:rPr>
              <a:t>The Pharmacovigilance Decision Bottleneck</a:t>
            </a:r>
            <a:endParaRPr lang="en-US" sz="1600" dirty="0"/>
          </a:p>
        </p:txBody>
      </p:sp>
      <p:sp>
        <p:nvSpPr>
          <p:cNvPr id="5" name="Text 1"/>
          <p:cNvSpPr/>
          <p:nvPr/>
        </p:nvSpPr>
        <p:spPr>
          <a:xfrm>
            <a:off x="628650" y="960834"/>
            <a:ext cx="3714750" cy="175022"/>
          </a:xfrm>
          <a:prstGeom prst="rect">
            <a:avLst/>
          </a:prstGeom>
          <a:noFill/>
          <a:ln/>
        </p:spPr>
        <p:txBody>
          <a:bodyPr wrap="square" lIns="0" tIns="0" rIns="0" bIns="0" rtlCol="0" anchor="t">
            <a:spAutoFit/>
          </a:bodyPr>
          <a:lstStyle/>
          <a:p>
            <a:pPr marL="0" indent="0" algn="l">
              <a:buNone/>
            </a:pPr>
            <a:r>
              <a:rPr lang="en-US" sz="1000" b="1" dirty="0">
                <a:solidFill>
                  <a:srgbClr val="0B1E36"/>
                </a:solidFill>
                <a:latin typeface="Calibri" pitchFamily="34" charset="0"/>
                <a:ea typeface="Inter SemiBold" pitchFamily="34" charset="-122"/>
                <a:cs typeface="Inter SemiBold" pitchFamily="34" charset="-120"/>
              </a:rPr>
              <a:t>Data Overload</a:t>
            </a:r>
            <a:endParaRPr lang="en-US" sz="1000" dirty="0"/>
          </a:p>
        </p:txBody>
      </p:sp>
      <p:sp>
        <p:nvSpPr>
          <p:cNvPr id="6" name="Text 2"/>
          <p:cNvSpPr/>
          <p:nvPr/>
        </p:nvSpPr>
        <p:spPr>
          <a:xfrm>
            <a:off x="628650" y="1193006"/>
            <a:ext cx="3714750"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4A5568"/>
                </a:solidFill>
                <a:latin typeface="Calibri" pitchFamily="34" charset="0"/>
                <a:ea typeface="Inter" pitchFamily="34" charset="-122"/>
                <a:cs typeface="Inter" pitchFamily="34" charset="-120"/>
              </a:rPr>
              <a:t>Pharmaceutical safety data is massive and unstructured, making manual analysis slow and prone to oversight.</a:t>
            </a:r>
            <a:endParaRPr lang="en-US" sz="950" dirty="0"/>
          </a:p>
        </p:txBody>
      </p:sp>
      <p:sp>
        <p:nvSpPr>
          <p:cNvPr id="7" name="Text 3"/>
          <p:cNvSpPr/>
          <p:nvPr/>
        </p:nvSpPr>
        <p:spPr>
          <a:xfrm>
            <a:off x="628650" y="1807369"/>
            <a:ext cx="3714750" cy="175022"/>
          </a:xfrm>
          <a:prstGeom prst="rect">
            <a:avLst/>
          </a:prstGeom>
          <a:noFill/>
          <a:ln/>
        </p:spPr>
        <p:txBody>
          <a:bodyPr wrap="square" lIns="0" tIns="0" rIns="0" bIns="0" rtlCol="0" anchor="t">
            <a:spAutoFit/>
          </a:bodyPr>
          <a:lstStyle/>
          <a:p>
            <a:pPr marL="0" indent="0" algn="l">
              <a:buNone/>
            </a:pPr>
            <a:r>
              <a:rPr lang="en-US" sz="1000" b="1" dirty="0">
                <a:solidFill>
                  <a:srgbClr val="0B1E36"/>
                </a:solidFill>
                <a:latin typeface="Calibri" pitchFamily="34" charset="0"/>
                <a:ea typeface="Inter SemiBold" pitchFamily="34" charset="-122"/>
                <a:cs typeface="Inter SemiBold" pitchFamily="34" charset="-120"/>
              </a:rPr>
              <a:t>Signal Identification</a:t>
            </a:r>
            <a:endParaRPr lang="en-US" sz="1000" dirty="0"/>
          </a:p>
        </p:txBody>
      </p:sp>
      <p:sp>
        <p:nvSpPr>
          <p:cNvPr id="8" name="Text 4"/>
          <p:cNvSpPr/>
          <p:nvPr/>
        </p:nvSpPr>
        <p:spPr>
          <a:xfrm>
            <a:off x="628650" y="2039541"/>
            <a:ext cx="3714750"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4A5568"/>
                </a:solidFill>
                <a:latin typeface="Calibri" pitchFamily="34" charset="0"/>
                <a:ea typeface="Inter" pitchFamily="34" charset="-122"/>
                <a:cs typeface="Inter" pitchFamily="34" charset="-120"/>
              </a:rPr>
              <a:t>Early safety signals are often buried in noise, delaying critical risk mitigation and regulatory reporting.</a:t>
            </a:r>
            <a:endParaRPr lang="en-US" sz="950" dirty="0"/>
          </a:p>
        </p:txBody>
      </p:sp>
      <p:sp>
        <p:nvSpPr>
          <p:cNvPr id="9" name="Text 5"/>
          <p:cNvSpPr/>
          <p:nvPr/>
        </p:nvSpPr>
        <p:spPr>
          <a:xfrm>
            <a:off x="628650" y="2653903"/>
            <a:ext cx="3714750" cy="175022"/>
          </a:xfrm>
          <a:prstGeom prst="rect">
            <a:avLst/>
          </a:prstGeom>
          <a:noFill/>
          <a:ln/>
        </p:spPr>
        <p:txBody>
          <a:bodyPr wrap="square" lIns="0" tIns="0" rIns="0" bIns="0" rtlCol="0" anchor="t">
            <a:spAutoFit/>
          </a:bodyPr>
          <a:lstStyle/>
          <a:p>
            <a:pPr marL="0" indent="0" algn="l">
              <a:buNone/>
            </a:pPr>
            <a:r>
              <a:rPr lang="en-US" sz="1000" b="1" dirty="0">
                <a:solidFill>
                  <a:srgbClr val="0B1E36"/>
                </a:solidFill>
                <a:latin typeface="Calibri" pitchFamily="34" charset="0"/>
                <a:ea typeface="Inter SemiBold" pitchFamily="34" charset="-122"/>
                <a:cs typeface="Inter SemiBold" pitchFamily="34" charset="-120"/>
              </a:rPr>
              <a:t>Regulatory Complexity</a:t>
            </a:r>
            <a:endParaRPr lang="en-US" sz="1000" dirty="0"/>
          </a:p>
        </p:txBody>
      </p:sp>
      <p:sp>
        <p:nvSpPr>
          <p:cNvPr id="10" name="Text 6"/>
          <p:cNvSpPr/>
          <p:nvPr/>
        </p:nvSpPr>
        <p:spPr>
          <a:xfrm>
            <a:off x="628650" y="2886075"/>
            <a:ext cx="3714750"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4A5568"/>
                </a:solidFill>
                <a:latin typeface="Calibri" pitchFamily="34" charset="0"/>
                <a:ea typeface="Inter" pitchFamily="34" charset="-122"/>
                <a:cs typeface="Inter" pitchFamily="34" charset="-120"/>
              </a:rPr>
              <a:t>Readiness requires cross-referencing multiple CTD modules, leading to inconsistent and time-consuming checks.</a:t>
            </a:r>
            <a:endParaRPr lang="en-US" sz="950" dirty="0"/>
          </a:p>
        </p:txBody>
      </p:sp>
      <p:sp>
        <p:nvSpPr>
          <p:cNvPr id="11" name="Shape 7"/>
          <p:cNvSpPr/>
          <p:nvPr/>
        </p:nvSpPr>
        <p:spPr>
          <a:xfrm>
            <a:off x="4800600" y="960834"/>
            <a:ext cx="4000500" cy="3071813"/>
          </a:xfrm>
          <a:prstGeom prst="rect">
            <a:avLst/>
          </a:prstGeom>
          <a:solidFill>
            <a:srgbClr val="F8F9FA"/>
          </a:solidFill>
          <a:ln w="9144">
            <a:solidFill>
              <a:srgbClr val="E2E8F0"/>
            </a:solidFill>
            <a:prstDash val="solid"/>
          </a:ln>
        </p:spPr>
        <p:txBody>
          <a:bodyPr/>
          <a:lstStyle/>
          <a:p>
            <a:endParaRPr/>
          </a:p>
        </p:txBody>
      </p:sp>
      <p:sp>
        <p:nvSpPr>
          <p:cNvPr id="12" name="Shape 8"/>
          <p:cNvSpPr/>
          <p:nvPr/>
        </p:nvSpPr>
        <p:spPr>
          <a:xfrm>
            <a:off x="5086350" y="1246584"/>
            <a:ext cx="3429000" cy="439341"/>
          </a:xfrm>
          <a:prstGeom prst="rect">
            <a:avLst/>
          </a:prstGeom>
          <a:solidFill>
            <a:srgbClr val="FFFFFF"/>
          </a:solidFill>
          <a:ln w="9144">
            <a:solidFill>
              <a:srgbClr val="E2E8F0"/>
            </a:solidFill>
            <a:prstDash val="solid"/>
          </a:ln>
        </p:spPr>
        <p:txBody>
          <a:bodyPr/>
          <a:lstStyle/>
          <a:p>
            <a:endParaRPr/>
          </a:p>
        </p:txBody>
      </p:sp>
      <p:sp>
        <p:nvSpPr>
          <p:cNvPr id="13" name="Text 9"/>
          <p:cNvSpPr/>
          <p:nvPr/>
        </p:nvSpPr>
        <p:spPr>
          <a:xfrm>
            <a:off x="5086350" y="1246584"/>
            <a:ext cx="3429000" cy="439341"/>
          </a:xfrm>
          <a:prstGeom prst="rect">
            <a:avLst/>
          </a:prstGeom>
          <a:noFill/>
          <a:ln/>
        </p:spPr>
        <p:txBody>
          <a:bodyPr wrap="square" lIns="170053" tIns="170053" rIns="170053" bIns="170053" rtlCol="0" anchor="t">
            <a:spAutoFit/>
          </a:bodyPr>
          <a:lstStyle/>
          <a:p>
            <a:pPr marL="0" indent="0" algn="ctr">
              <a:buNone/>
            </a:pPr>
            <a:r>
              <a:rPr lang="en-US" sz="800" b="1" dirty="0">
                <a:solidFill>
                  <a:srgbClr val="0B1E36"/>
                </a:solidFill>
                <a:latin typeface="Calibri" pitchFamily="34" charset="0"/>
                <a:ea typeface="Inter SemiBold" pitchFamily="34" charset="-122"/>
                <a:cs typeface="Inter SemiBold" pitchFamily="34" charset="-120"/>
              </a:rPr>
              <a:t>Massive Safety Data</a:t>
            </a:r>
            <a:endParaRPr lang="en-US" sz="800" dirty="0"/>
          </a:p>
        </p:txBody>
      </p:sp>
      <p:sp>
        <p:nvSpPr>
          <p:cNvPr id="14" name="Text 10"/>
          <p:cNvSpPr/>
          <p:nvPr/>
        </p:nvSpPr>
        <p:spPr>
          <a:xfrm>
            <a:off x="6729413" y="1843088"/>
            <a:ext cx="142875" cy="210741"/>
          </a:xfrm>
          <a:prstGeom prst="rect">
            <a:avLst/>
          </a:prstGeom>
          <a:noFill/>
          <a:ln/>
        </p:spPr>
        <p:txBody>
          <a:bodyPr wrap="none" lIns="0" tIns="0" rIns="0" bIns="0" rtlCol="0" anchor="t">
            <a:spAutoFit/>
          </a:bodyPr>
          <a:lstStyle/>
          <a:p>
            <a:pPr marL="0" indent="0" algn="ctr">
              <a:buNone/>
            </a:pPr>
            <a:r>
              <a:rPr lang="en-US" sz="1250" dirty="0">
                <a:solidFill>
                  <a:srgbClr val="007A86"/>
                </a:solidFill>
                <a:latin typeface="Calibri" pitchFamily="34" charset="0"/>
                <a:ea typeface="Inter" pitchFamily="34" charset="-122"/>
                <a:cs typeface="Inter" pitchFamily="34" charset="-120"/>
              </a:rPr>
              <a:t>↓</a:t>
            </a:r>
            <a:endParaRPr lang="en-US" sz="1250" dirty="0"/>
          </a:p>
        </p:txBody>
      </p:sp>
      <p:sp>
        <p:nvSpPr>
          <p:cNvPr id="15" name="Shape 11"/>
          <p:cNvSpPr/>
          <p:nvPr/>
        </p:nvSpPr>
        <p:spPr>
          <a:xfrm>
            <a:off x="5086350" y="2225278"/>
            <a:ext cx="3429000" cy="439341"/>
          </a:xfrm>
          <a:prstGeom prst="rect">
            <a:avLst/>
          </a:prstGeom>
          <a:solidFill>
            <a:srgbClr val="FFFFFF"/>
          </a:solidFill>
          <a:ln w="9144">
            <a:solidFill>
              <a:srgbClr val="E2E8F0"/>
            </a:solidFill>
            <a:prstDash val="solid"/>
          </a:ln>
        </p:spPr>
        <p:txBody>
          <a:bodyPr/>
          <a:lstStyle/>
          <a:p>
            <a:endParaRPr/>
          </a:p>
        </p:txBody>
      </p:sp>
      <p:sp>
        <p:nvSpPr>
          <p:cNvPr id="16" name="Text 12"/>
          <p:cNvSpPr/>
          <p:nvPr/>
        </p:nvSpPr>
        <p:spPr>
          <a:xfrm>
            <a:off x="5086350" y="2225278"/>
            <a:ext cx="3429000" cy="439341"/>
          </a:xfrm>
          <a:prstGeom prst="rect">
            <a:avLst/>
          </a:prstGeom>
          <a:noFill/>
          <a:ln/>
        </p:spPr>
        <p:txBody>
          <a:bodyPr wrap="square" lIns="170053" tIns="170053" rIns="170053" bIns="170053" rtlCol="0" anchor="t">
            <a:spAutoFit/>
          </a:bodyPr>
          <a:lstStyle/>
          <a:p>
            <a:pPr marL="0" indent="0" algn="ctr">
              <a:buNone/>
            </a:pPr>
            <a:r>
              <a:rPr lang="en-US" sz="800" b="1" dirty="0">
                <a:solidFill>
                  <a:srgbClr val="0B1E36"/>
                </a:solidFill>
                <a:latin typeface="Calibri" pitchFamily="34" charset="0"/>
                <a:ea typeface="Inter SemiBold" pitchFamily="34" charset="-122"/>
                <a:cs typeface="Inter SemiBold" pitchFamily="34" charset="-120"/>
              </a:rPr>
              <a:t>Manual Analysis Challenge</a:t>
            </a:r>
            <a:endParaRPr lang="en-US" sz="800" dirty="0"/>
          </a:p>
        </p:txBody>
      </p:sp>
      <p:sp>
        <p:nvSpPr>
          <p:cNvPr id="17" name="Text 13"/>
          <p:cNvSpPr/>
          <p:nvPr/>
        </p:nvSpPr>
        <p:spPr>
          <a:xfrm>
            <a:off x="6729413" y="2821781"/>
            <a:ext cx="142875" cy="210741"/>
          </a:xfrm>
          <a:prstGeom prst="rect">
            <a:avLst/>
          </a:prstGeom>
          <a:noFill/>
          <a:ln/>
        </p:spPr>
        <p:txBody>
          <a:bodyPr wrap="none" lIns="0" tIns="0" rIns="0" bIns="0" rtlCol="0" anchor="t">
            <a:spAutoFit/>
          </a:bodyPr>
          <a:lstStyle/>
          <a:p>
            <a:pPr marL="0" indent="0" algn="ctr">
              <a:buNone/>
            </a:pPr>
            <a:r>
              <a:rPr lang="en-US" sz="1250" dirty="0">
                <a:solidFill>
                  <a:srgbClr val="007A86"/>
                </a:solidFill>
                <a:latin typeface="Calibri" pitchFamily="34" charset="0"/>
                <a:ea typeface="Inter" pitchFamily="34" charset="-122"/>
                <a:cs typeface="Inter" pitchFamily="34" charset="-120"/>
              </a:rPr>
              <a:t>↓</a:t>
            </a:r>
            <a:endParaRPr lang="en-US" sz="1250" dirty="0"/>
          </a:p>
        </p:txBody>
      </p:sp>
      <p:sp>
        <p:nvSpPr>
          <p:cNvPr id="18" name="Shape 14"/>
          <p:cNvSpPr/>
          <p:nvPr/>
        </p:nvSpPr>
        <p:spPr>
          <a:xfrm>
            <a:off x="5086350" y="3318272"/>
            <a:ext cx="3429000" cy="385763"/>
          </a:xfrm>
          <a:prstGeom prst="rect">
            <a:avLst/>
          </a:prstGeom>
          <a:solidFill>
            <a:srgbClr val="FF5A5F"/>
          </a:solidFill>
          <a:ln/>
        </p:spPr>
        <p:txBody>
          <a:bodyPr/>
          <a:lstStyle/>
          <a:p>
            <a:endParaRPr/>
          </a:p>
        </p:txBody>
      </p:sp>
      <p:sp>
        <p:nvSpPr>
          <p:cNvPr id="19" name="Text 15"/>
          <p:cNvSpPr/>
          <p:nvPr/>
        </p:nvSpPr>
        <p:spPr>
          <a:xfrm>
            <a:off x="5086350" y="3318272"/>
            <a:ext cx="3429000" cy="385763"/>
          </a:xfrm>
          <a:prstGeom prst="rect">
            <a:avLst/>
          </a:prstGeom>
          <a:noFill/>
          <a:ln/>
        </p:spPr>
        <p:txBody>
          <a:bodyPr wrap="square" lIns="136017" tIns="136017" rIns="136017" bIns="136017" rtlCol="0" anchor="t">
            <a:spAutoFit/>
          </a:bodyPr>
          <a:lstStyle/>
          <a:p>
            <a:pPr marL="0" indent="0" algn="ctr">
              <a:buNone/>
            </a:pPr>
            <a:r>
              <a:rPr lang="en-US" sz="900" b="1" dirty="0">
                <a:solidFill>
                  <a:srgbClr val="FFFFFF"/>
                </a:solidFill>
                <a:latin typeface="Calibri" pitchFamily="34" charset="0"/>
                <a:ea typeface="Inter SemiBold" pitchFamily="34" charset="-122"/>
                <a:cs typeface="Inter SemiBold" pitchFamily="34" charset="-120"/>
              </a:rPr>
              <a:t>Delayed &amp; Complex Decision Making</a:t>
            </a:r>
            <a:endParaRPr lang="en-US" sz="900" dirty="0"/>
          </a:p>
        </p:txBody>
      </p:sp>
      <p:sp>
        <p:nvSpPr>
          <p:cNvPr id="20" name="Text 16"/>
          <p:cNvSpPr/>
          <p:nvPr/>
        </p:nvSpPr>
        <p:spPr>
          <a:xfrm>
            <a:off x="8676084" y="4679156"/>
            <a:ext cx="125016" cy="121444"/>
          </a:xfrm>
          <a:prstGeom prst="rect">
            <a:avLst/>
          </a:prstGeom>
          <a:noFill/>
          <a:ln/>
        </p:spPr>
        <p:txBody>
          <a:bodyPr wrap="none" lIns="0" tIns="0" rIns="0" bIns="0" rtlCol="0" anchor="t">
            <a:spAutoFit/>
          </a:bodyPr>
          <a:lstStyle/>
          <a:p>
            <a:pPr marL="0" indent="0" algn="l">
              <a:buNone/>
            </a:pPr>
            <a:r>
              <a:rPr lang="en-US" sz="750" dirty="0">
                <a:solidFill>
                  <a:srgbClr val="0B1E36">
                    <a:alpha val="50000"/>
                  </a:srgbClr>
                </a:solidFill>
                <a:latin typeface="Calibri" pitchFamily="34" charset="0"/>
                <a:ea typeface="Inter" pitchFamily="34" charset="-122"/>
                <a:cs typeface="Inter" pitchFamily="34" charset="-120"/>
              </a:rPr>
              <a:t>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342900" y="342900"/>
            <a:ext cx="8458200" cy="275034"/>
          </a:xfrm>
          <a:prstGeom prst="rect">
            <a:avLst/>
          </a:prstGeom>
          <a:noFill/>
          <a:ln/>
        </p:spPr>
        <p:txBody>
          <a:bodyPr wrap="square" lIns="0" tIns="0" rIns="0" bIns="0" rtlCol="0" anchor="t">
            <a:spAutoFit/>
          </a:bodyPr>
          <a:lstStyle/>
          <a:p>
            <a:pPr marL="0" indent="0" algn="l">
              <a:buNone/>
            </a:pPr>
            <a:r>
              <a:rPr lang="en-US" sz="1600" b="1" dirty="0">
                <a:solidFill>
                  <a:srgbClr val="0B1E36"/>
                </a:solidFill>
                <a:latin typeface="Calibri" pitchFamily="34" charset="0"/>
                <a:ea typeface="Inter SemiBold" pitchFamily="34" charset="-122"/>
                <a:cs typeface="Inter SemiBold" pitchFamily="34" charset="-120"/>
              </a:rPr>
              <a:t>One Workflow from Safety Data to Action</a:t>
            </a:r>
            <a:endParaRPr lang="en-US" sz="1600" dirty="0"/>
          </a:p>
        </p:txBody>
      </p:sp>
      <p:sp>
        <p:nvSpPr>
          <p:cNvPr id="5" name="Shape 1"/>
          <p:cNvSpPr/>
          <p:nvPr/>
        </p:nvSpPr>
        <p:spPr>
          <a:xfrm>
            <a:off x="342900" y="1571625"/>
            <a:ext cx="1314450" cy="1143000"/>
          </a:xfrm>
          <a:prstGeom prst="rect">
            <a:avLst/>
          </a:prstGeom>
          <a:solidFill>
            <a:srgbClr val="F8F9FA"/>
          </a:solidFill>
          <a:ln w="9144">
            <a:solidFill>
              <a:srgbClr val="E2E8F0"/>
            </a:solidFill>
            <a:prstDash val="solid"/>
          </a:ln>
        </p:spPr>
        <p:txBody>
          <a:bodyPr/>
          <a:lstStyle/>
          <a:p>
            <a:endParaRPr/>
          </a:p>
        </p:txBody>
      </p:sp>
      <p:sp>
        <p:nvSpPr>
          <p:cNvPr id="6" name="Text 2"/>
          <p:cNvSpPr/>
          <p:nvPr/>
        </p:nvSpPr>
        <p:spPr>
          <a:xfrm>
            <a:off x="457200" y="1925241"/>
            <a:ext cx="1085850" cy="210741"/>
          </a:xfrm>
          <a:prstGeom prst="rect">
            <a:avLst/>
          </a:prstGeom>
          <a:noFill/>
          <a:ln/>
        </p:spPr>
        <p:txBody>
          <a:bodyPr wrap="none" lIns="0" tIns="0" rIns="0" bIns="0" rtlCol="0" anchor="t">
            <a:spAutoFit/>
          </a:bodyPr>
          <a:lstStyle/>
          <a:p>
            <a:pPr marL="0" indent="0" algn="ctr">
              <a:buNone/>
            </a:pPr>
            <a:r>
              <a:rPr lang="en-US" sz="1250" dirty="0">
                <a:solidFill>
                  <a:srgbClr val="007A86"/>
                </a:solidFill>
                <a:latin typeface="Calibri" pitchFamily="34" charset="0"/>
                <a:ea typeface="Inter" pitchFamily="34" charset="-122"/>
                <a:cs typeface="Inter" pitchFamily="34" charset="-120"/>
              </a:rPr>
              <a:t>📥</a:t>
            </a:r>
            <a:endParaRPr lang="en-US" sz="1250" dirty="0"/>
          </a:p>
        </p:txBody>
      </p:sp>
      <p:sp>
        <p:nvSpPr>
          <p:cNvPr id="7" name="Text 3"/>
          <p:cNvSpPr/>
          <p:nvPr/>
        </p:nvSpPr>
        <p:spPr>
          <a:xfrm>
            <a:off x="457200" y="2221706"/>
            <a:ext cx="1085850" cy="139303"/>
          </a:xfrm>
          <a:prstGeom prst="rect">
            <a:avLst/>
          </a:prstGeom>
          <a:noFill/>
          <a:ln/>
        </p:spPr>
        <p:txBody>
          <a:bodyPr wrap="none" lIns="0" tIns="0" rIns="0" bIns="0" rtlCol="0" anchor="t">
            <a:spAutoFit/>
          </a:bodyPr>
          <a:lstStyle/>
          <a:p>
            <a:pPr marL="0" indent="0" algn="ctr">
              <a:buNone/>
            </a:pPr>
            <a:r>
              <a:rPr lang="en-US" sz="800" b="1" dirty="0">
                <a:solidFill>
                  <a:srgbClr val="0B1E36"/>
                </a:solidFill>
                <a:latin typeface="Calibri" pitchFamily="34" charset="0"/>
                <a:ea typeface="Inter SemiBold" pitchFamily="34" charset="-122"/>
                <a:cs typeface="Inter SemiBold" pitchFamily="34" charset="-120"/>
              </a:rPr>
              <a:t>Safety Data Input</a:t>
            </a:r>
            <a:endParaRPr lang="en-US" sz="800" dirty="0"/>
          </a:p>
        </p:txBody>
      </p:sp>
      <p:sp>
        <p:nvSpPr>
          <p:cNvPr id="8" name="Text 4"/>
          <p:cNvSpPr/>
          <p:nvPr/>
        </p:nvSpPr>
        <p:spPr>
          <a:xfrm>
            <a:off x="1600200" y="2055614"/>
            <a:ext cx="142875" cy="175022"/>
          </a:xfrm>
          <a:prstGeom prst="rect">
            <a:avLst/>
          </a:prstGeom>
          <a:noFill/>
          <a:ln/>
        </p:spPr>
        <p:txBody>
          <a:bodyPr wrap="none" lIns="0" tIns="0" rIns="0" bIns="0" rtlCol="0" anchor="t">
            <a:spAutoFit/>
          </a:bodyPr>
          <a:lstStyle/>
          <a:p>
            <a:pPr marL="0" indent="0" algn="ctr">
              <a:buNone/>
            </a:pPr>
            <a:r>
              <a:rPr lang="en-US" sz="1050" dirty="0">
                <a:solidFill>
                  <a:srgbClr val="007A86"/>
                </a:solidFill>
                <a:latin typeface="Calibri" pitchFamily="34" charset="0"/>
                <a:ea typeface="Inter" pitchFamily="34" charset="-122"/>
                <a:cs typeface="Inter" pitchFamily="34" charset="-120"/>
              </a:rPr>
              <a:t>→</a:t>
            </a:r>
            <a:endParaRPr lang="en-US" sz="1050" dirty="0"/>
          </a:p>
        </p:txBody>
      </p:sp>
      <p:sp>
        <p:nvSpPr>
          <p:cNvPr id="9" name="Shape 5"/>
          <p:cNvSpPr/>
          <p:nvPr/>
        </p:nvSpPr>
        <p:spPr>
          <a:xfrm>
            <a:off x="1771650" y="1571625"/>
            <a:ext cx="1314450" cy="1143000"/>
          </a:xfrm>
          <a:prstGeom prst="rect">
            <a:avLst/>
          </a:prstGeom>
          <a:solidFill>
            <a:srgbClr val="F8F9FA"/>
          </a:solidFill>
          <a:ln w="9144">
            <a:solidFill>
              <a:srgbClr val="E2E8F0"/>
            </a:solidFill>
            <a:prstDash val="solid"/>
          </a:ln>
        </p:spPr>
        <p:txBody>
          <a:bodyPr/>
          <a:lstStyle/>
          <a:p>
            <a:endParaRPr/>
          </a:p>
        </p:txBody>
      </p:sp>
      <p:sp>
        <p:nvSpPr>
          <p:cNvPr id="10" name="Text 6"/>
          <p:cNvSpPr/>
          <p:nvPr/>
        </p:nvSpPr>
        <p:spPr>
          <a:xfrm>
            <a:off x="1885950" y="1925241"/>
            <a:ext cx="1085850" cy="210741"/>
          </a:xfrm>
          <a:prstGeom prst="rect">
            <a:avLst/>
          </a:prstGeom>
          <a:noFill/>
          <a:ln/>
        </p:spPr>
        <p:txBody>
          <a:bodyPr wrap="none" lIns="0" tIns="0" rIns="0" bIns="0" rtlCol="0" anchor="t">
            <a:spAutoFit/>
          </a:bodyPr>
          <a:lstStyle/>
          <a:p>
            <a:pPr marL="0" indent="0" algn="ctr">
              <a:buNone/>
            </a:pPr>
            <a:r>
              <a:rPr lang="en-US" sz="1250" dirty="0">
                <a:solidFill>
                  <a:srgbClr val="007A86"/>
                </a:solidFill>
                <a:latin typeface="Calibri" pitchFamily="34" charset="0"/>
                <a:ea typeface="Inter" pitchFamily="34" charset="-122"/>
                <a:cs typeface="Inter" pitchFamily="34" charset="-120"/>
              </a:rPr>
              <a:t>🔍</a:t>
            </a:r>
            <a:endParaRPr lang="en-US" sz="1250" dirty="0"/>
          </a:p>
        </p:txBody>
      </p:sp>
      <p:sp>
        <p:nvSpPr>
          <p:cNvPr id="11" name="Text 7"/>
          <p:cNvSpPr/>
          <p:nvPr/>
        </p:nvSpPr>
        <p:spPr>
          <a:xfrm>
            <a:off x="1885950" y="2221706"/>
            <a:ext cx="1085850" cy="139303"/>
          </a:xfrm>
          <a:prstGeom prst="rect">
            <a:avLst/>
          </a:prstGeom>
          <a:noFill/>
          <a:ln/>
        </p:spPr>
        <p:txBody>
          <a:bodyPr wrap="none" lIns="0" tIns="0" rIns="0" bIns="0" rtlCol="0" anchor="t">
            <a:spAutoFit/>
          </a:bodyPr>
          <a:lstStyle/>
          <a:p>
            <a:pPr marL="0" indent="0" algn="ctr">
              <a:buNone/>
            </a:pPr>
            <a:r>
              <a:rPr lang="en-US" sz="800" b="1" dirty="0">
                <a:solidFill>
                  <a:srgbClr val="0B1E36"/>
                </a:solidFill>
                <a:latin typeface="Calibri" pitchFamily="34" charset="0"/>
                <a:ea typeface="Inter SemiBold" pitchFamily="34" charset="-122"/>
                <a:cs typeface="Inter SemiBold" pitchFamily="34" charset="-120"/>
              </a:rPr>
              <a:t>Signal Detection</a:t>
            </a:r>
            <a:endParaRPr lang="en-US" sz="800" dirty="0"/>
          </a:p>
        </p:txBody>
      </p:sp>
      <p:sp>
        <p:nvSpPr>
          <p:cNvPr id="12" name="Text 8"/>
          <p:cNvSpPr/>
          <p:nvPr/>
        </p:nvSpPr>
        <p:spPr>
          <a:xfrm>
            <a:off x="3028950" y="2055614"/>
            <a:ext cx="142875" cy="175022"/>
          </a:xfrm>
          <a:prstGeom prst="rect">
            <a:avLst/>
          </a:prstGeom>
          <a:noFill/>
          <a:ln/>
        </p:spPr>
        <p:txBody>
          <a:bodyPr wrap="none" lIns="0" tIns="0" rIns="0" bIns="0" rtlCol="0" anchor="t">
            <a:spAutoFit/>
          </a:bodyPr>
          <a:lstStyle/>
          <a:p>
            <a:pPr marL="0" indent="0" algn="ctr">
              <a:buNone/>
            </a:pPr>
            <a:r>
              <a:rPr lang="en-US" sz="1050" dirty="0">
                <a:solidFill>
                  <a:srgbClr val="007A86"/>
                </a:solidFill>
                <a:latin typeface="Calibri" pitchFamily="34" charset="0"/>
                <a:ea typeface="Inter" pitchFamily="34" charset="-122"/>
                <a:cs typeface="Inter" pitchFamily="34" charset="-120"/>
              </a:rPr>
              <a:t>→</a:t>
            </a:r>
            <a:endParaRPr lang="en-US" sz="1050" dirty="0"/>
          </a:p>
        </p:txBody>
      </p:sp>
      <p:sp>
        <p:nvSpPr>
          <p:cNvPr id="13" name="Shape 9"/>
          <p:cNvSpPr/>
          <p:nvPr/>
        </p:nvSpPr>
        <p:spPr>
          <a:xfrm>
            <a:off x="3200400" y="1571625"/>
            <a:ext cx="1314450" cy="1143000"/>
          </a:xfrm>
          <a:prstGeom prst="rect">
            <a:avLst/>
          </a:prstGeom>
          <a:solidFill>
            <a:srgbClr val="F8F9FA"/>
          </a:solidFill>
          <a:ln w="9144">
            <a:solidFill>
              <a:srgbClr val="E2E8F0"/>
            </a:solidFill>
            <a:prstDash val="solid"/>
          </a:ln>
        </p:spPr>
        <p:txBody>
          <a:bodyPr/>
          <a:lstStyle/>
          <a:p>
            <a:endParaRPr/>
          </a:p>
        </p:txBody>
      </p:sp>
      <p:sp>
        <p:nvSpPr>
          <p:cNvPr id="14" name="Text 10"/>
          <p:cNvSpPr/>
          <p:nvPr/>
        </p:nvSpPr>
        <p:spPr>
          <a:xfrm>
            <a:off x="3314700" y="1925241"/>
            <a:ext cx="1085850" cy="210741"/>
          </a:xfrm>
          <a:prstGeom prst="rect">
            <a:avLst/>
          </a:prstGeom>
          <a:noFill/>
          <a:ln/>
        </p:spPr>
        <p:txBody>
          <a:bodyPr wrap="none" lIns="0" tIns="0" rIns="0" bIns="0" rtlCol="0" anchor="t">
            <a:spAutoFit/>
          </a:bodyPr>
          <a:lstStyle/>
          <a:p>
            <a:pPr marL="0" indent="0" algn="ctr">
              <a:buNone/>
            </a:pPr>
            <a:r>
              <a:rPr lang="en-US" sz="1250" dirty="0">
                <a:solidFill>
                  <a:srgbClr val="007A86"/>
                </a:solidFill>
                <a:latin typeface="Calibri" pitchFamily="34" charset="0"/>
                <a:ea typeface="Inter" pitchFamily="34" charset="-122"/>
                <a:cs typeface="Inter" pitchFamily="34" charset="-120"/>
              </a:rPr>
              <a:t>📊</a:t>
            </a:r>
            <a:endParaRPr lang="en-US" sz="1250" dirty="0"/>
          </a:p>
        </p:txBody>
      </p:sp>
      <p:sp>
        <p:nvSpPr>
          <p:cNvPr id="15" name="Text 11"/>
          <p:cNvSpPr/>
          <p:nvPr/>
        </p:nvSpPr>
        <p:spPr>
          <a:xfrm>
            <a:off x="3314700" y="2221706"/>
            <a:ext cx="1085850" cy="139303"/>
          </a:xfrm>
          <a:prstGeom prst="rect">
            <a:avLst/>
          </a:prstGeom>
          <a:noFill/>
          <a:ln/>
        </p:spPr>
        <p:txBody>
          <a:bodyPr wrap="none" lIns="0" tIns="0" rIns="0" bIns="0" rtlCol="0" anchor="t">
            <a:spAutoFit/>
          </a:bodyPr>
          <a:lstStyle/>
          <a:p>
            <a:pPr marL="0" indent="0" algn="ctr">
              <a:buNone/>
            </a:pPr>
            <a:r>
              <a:rPr lang="en-US" sz="800" b="1" dirty="0">
                <a:solidFill>
                  <a:srgbClr val="0B1E36"/>
                </a:solidFill>
                <a:latin typeface="Calibri" pitchFamily="34" charset="0"/>
                <a:ea typeface="Inter SemiBold" pitchFamily="34" charset="-122"/>
                <a:cs typeface="Inter SemiBold" pitchFamily="34" charset="-120"/>
              </a:rPr>
              <a:t>Risk Analysis</a:t>
            </a:r>
            <a:endParaRPr lang="en-US" sz="800" dirty="0"/>
          </a:p>
        </p:txBody>
      </p:sp>
      <p:sp>
        <p:nvSpPr>
          <p:cNvPr id="16" name="Text 12"/>
          <p:cNvSpPr/>
          <p:nvPr/>
        </p:nvSpPr>
        <p:spPr>
          <a:xfrm>
            <a:off x="4457700" y="2055614"/>
            <a:ext cx="142875" cy="175022"/>
          </a:xfrm>
          <a:prstGeom prst="rect">
            <a:avLst/>
          </a:prstGeom>
          <a:noFill/>
          <a:ln/>
        </p:spPr>
        <p:txBody>
          <a:bodyPr wrap="none" lIns="0" tIns="0" rIns="0" bIns="0" rtlCol="0" anchor="t">
            <a:spAutoFit/>
          </a:bodyPr>
          <a:lstStyle/>
          <a:p>
            <a:pPr marL="0" indent="0" algn="ctr">
              <a:buNone/>
            </a:pPr>
            <a:r>
              <a:rPr lang="en-US" sz="1050" dirty="0">
                <a:solidFill>
                  <a:srgbClr val="007A86"/>
                </a:solidFill>
                <a:latin typeface="Calibri" pitchFamily="34" charset="0"/>
                <a:ea typeface="Inter" pitchFamily="34" charset="-122"/>
                <a:cs typeface="Inter" pitchFamily="34" charset="-120"/>
              </a:rPr>
              <a:t>→</a:t>
            </a:r>
            <a:endParaRPr lang="en-US" sz="1050" dirty="0"/>
          </a:p>
        </p:txBody>
      </p:sp>
      <p:sp>
        <p:nvSpPr>
          <p:cNvPr id="17" name="Shape 13"/>
          <p:cNvSpPr/>
          <p:nvPr/>
        </p:nvSpPr>
        <p:spPr>
          <a:xfrm>
            <a:off x="4629150" y="1571625"/>
            <a:ext cx="1314450" cy="1143000"/>
          </a:xfrm>
          <a:prstGeom prst="rect">
            <a:avLst/>
          </a:prstGeom>
          <a:solidFill>
            <a:srgbClr val="F8F9FA"/>
          </a:solidFill>
          <a:ln w="9144">
            <a:solidFill>
              <a:srgbClr val="E2E8F0"/>
            </a:solidFill>
            <a:prstDash val="solid"/>
          </a:ln>
        </p:spPr>
        <p:txBody>
          <a:bodyPr/>
          <a:lstStyle/>
          <a:p>
            <a:endParaRPr/>
          </a:p>
        </p:txBody>
      </p:sp>
      <p:sp>
        <p:nvSpPr>
          <p:cNvPr id="18" name="Text 14"/>
          <p:cNvSpPr/>
          <p:nvPr/>
        </p:nvSpPr>
        <p:spPr>
          <a:xfrm>
            <a:off x="4743450" y="1855589"/>
            <a:ext cx="1085850" cy="210741"/>
          </a:xfrm>
          <a:prstGeom prst="rect">
            <a:avLst/>
          </a:prstGeom>
          <a:noFill/>
          <a:ln/>
        </p:spPr>
        <p:txBody>
          <a:bodyPr wrap="none" lIns="0" tIns="0" rIns="0" bIns="0" rtlCol="0" anchor="t">
            <a:spAutoFit/>
          </a:bodyPr>
          <a:lstStyle/>
          <a:p>
            <a:pPr marL="0" indent="0" algn="ctr">
              <a:buNone/>
            </a:pPr>
            <a:r>
              <a:rPr lang="en-US" sz="1250" dirty="0">
                <a:solidFill>
                  <a:srgbClr val="007A86"/>
                </a:solidFill>
                <a:latin typeface="Calibri" pitchFamily="34" charset="0"/>
                <a:ea typeface="Inter" pitchFamily="34" charset="-122"/>
                <a:cs typeface="Inter" pitchFamily="34" charset="-120"/>
              </a:rPr>
              <a:t>🤖</a:t>
            </a:r>
            <a:endParaRPr lang="en-US" sz="1250" dirty="0"/>
          </a:p>
        </p:txBody>
      </p:sp>
      <p:sp>
        <p:nvSpPr>
          <p:cNvPr id="19" name="Text 15"/>
          <p:cNvSpPr/>
          <p:nvPr/>
        </p:nvSpPr>
        <p:spPr>
          <a:xfrm>
            <a:off x="4743450" y="2152055"/>
            <a:ext cx="1085850" cy="278606"/>
          </a:xfrm>
          <a:prstGeom prst="rect">
            <a:avLst/>
          </a:prstGeom>
          <a:noFill/>
          <a:ln/>
        </p:spPr>
        <p:txBody>
          <a:bodyPr wrap="none" lIns="0" tIns="0" rIns="0" bIns="0" rtlCol="0" anchor="t">
            <a:spAutoFit/>
          </a:bodyPr>
          <a:lstStyle/>
          <a:p>
            <a:pPr marL="0" indent="0" algn="ctr">
              <a:buNone/>
            </a:pPr>
            <a:r>
              <a:rPr lang="en-US" sz="800" b="1" dirty="0">
                <a:solidFill>
                  <a:srgbClr val="0B1E36"/>
                </a:solidFill>
                <a:latin typeface="Calibri" pitchFamily="34" charset="0"/>
                <a:ea typeface="Inter SemiBold" pitchFamily="34" charset="-122"/>
                <a:cs typeface="Inter SemiBold" pitchFamily="34" charset="-120"/>
              </a:rPr>
              <a:t>AI-Assisted Insights</a:t>
            </a:r>
            <a:endParaRPr lang="en-US" sz="800" dirty="0"/>
          </a:p>
        </p:txBody>
      </p:sp>
      <p:sp>
        <p:nvSpPr>
          <p:cNvPr id="20" name="Text 16"/>
          <p:cNvSpPr/>
          <p:nvPr/>
        </p:nvSpPr>
        <p:spPr>
          <a:xfrm>
            <a:off x="5886450" y="2055614"/>
            <a:ext cx="142875" cy="175022"/>
          </a:xfrm>
          <a:prstGeom prst="rect">
            <a:avLst/>
          </a:prstGeom>
          <a:noFill/>
          <a:ln/>
        </p:spPr>
        <p:txBody>
          <a:bodyPr wrap="none" lIns="0" tIns="0" rIns="0" bIns="0" rtlCol="0" anchor="t">
            <a:spAutoFit/>
          </a:bodyPr>
          <a:lstStyle/>
          <a:p>
            <a:pPr marL="0" indent="0" algn="ctr">
              <a:buNone/>
            </a:pPr>
            <a:r>
              <a:rPr lang="en-US" sz="1050" dirty="0">
                <a:solidFill>
                  <a:srgbClr val="007A86"/>
                </a:solidFill>
                <a:latin typeface="Calibri" pitchFamily="34" charset="0"/>
                <a:ea typeface="Inter" pitchFamily="34" charset="-122"/>
                <a:cs typeface="Inter" pitchFamily="34" charset="-120"/>
              </a:rPr>
              <a:t>→</a:t>
            </a:r>
            <a:endParaRPr lang="en-US" sz="1050" dirty="0"/>
          </a:p>
        </p:txBody>
      </p:sp>
      <p:sp>
        <p:nvSpPr>
          <p:cNvPr id="21" name="Shape 17"/>
          <p:cNvSpPr/>
          <p:nvPr/>
        </p:nvSpPr>
        <p:spPr>
          <a:xfrm>
            <a:off x="6057900" y="1571625"/>
            <a:ext cx="1314450" cy="1143000"/>
          </a:xfrm>
          <a:prstGeom prst="rect">
            <a:avLst/>
          </a:prstGeom>
          <a:solidFill>
            <a:srgbClr val="F8F9FA"/>
          </a:solidFill>
          <a:ln w="9144">
            <a:solidFill>
              <a:srgbClr val="E2E8F0"/>
            </a:solidFill>
            <a:prstDash val="solid"/>
          </a:ln>
        </p:spPr>
        <p:txBody>
          <a:bodyPr/>
          <a:lstStyle/>
          <a:p>
            <a:endParaRPr/>
          </a:p>
        </p:txBody>
      </p:sp>
      <p:sp>
        <p:nvSpPr>
          <p:cNvPr id="22" name="Text 18"/>
          <p:cNvSpPr/>
          <p:nvPr/>
        </p:nvSpPr>
        <p:spPr>
          <a:xfrm>
            <a:off x="6172200" y="1855589"/>
            <a:ext cx="1085850" cy="210741"/>
          </a:xfrm>
          <a:prstGeom prst="rect">
            <a:avLst/>
          </a:prstGeom>
          <a:noFill/>
          <a:ln/>
        </p:spPr>
        <p:txBody>
          <a:bodyPr wrap="none" lIns="0" tIns="0" rIns="0" bIns="0" rtlCol="0" anchor="t">
            <a:spAutoFit/>
          </a:bodyPr>
          <a:lstStyle/>
          <a:p>
            <a:pPr marL="0" indent="0" algn="ctr">
              <a:buNone/>
            </a:pPr>
            <a:r>
              <a:rPr lang="en-US" sz="1250" dirty="0">
                <a:solidFill>
                  <a:srgbClr val="007A86"/>
                </a:solidFill>
                <a:latin typeface="Calibri" pitchFamily="34" charset="0"/>
                <a:ea typeface="Inter" pitchFamily="34" charset="-122"/>
                <a:cs typeface="Inter" pitchFamily="34" charset="-120"/>
              </a:rPr>
              <a:t>📋</a:t>
            </a:r>
            <a:endParaRPr lang="en-US" sz="1250" dirty="0"/>
          </a:p>
        </p:txBody>
      </p:sp>
      <p:sp>
        <p:nvSpPr>
          <p:cNvPr id="23" name="Text 19"/>
          <p:cNvSpPr/>
          <p:nvPr/>
        </p:nvSpPr>
        <p:spPr>
          <a:xfrm>
            <a:off x="6172200" y="2152055"/>
            <a:ext cx="1085850" cy="278606"/>
          </a:xfrm>
          <a:prstGeom prst="rect">
            <a:avLst/>
          </a:prstGeom>
          <a:noFill/>
          <a:ln/>
        </p:spPr>
        <p:txBody>
          <a:bodyPr wrap="none" lIns="0" tIns="0" rIns="0" bIns="0" rtlCol="0" anchor="t">
            <a:spAutoFit/>
          </a:bodyPr>
          <a:lstStyle/>
          <a:p>
            <a:pPr marL="0" indent="0" algn="ctr">
              <a:buNone/>
            </a:pPr>
            <a:r>
              <a:rPr lang="en-US" sz="800" b="1" dirty="0">
                <a:solidFill>
                  <a:srgbClr val="0B1E36"/>
                </a:solidFill>
                <a:latin typeface="Calibri" pitchFamily="34" charset="0"/>
                <a:ea typeface="Inter SemiBold" pitchFamily="34" charset="-122"/>
                <a:cs typeface="Inter SemiBold" pitchFamily="34" charset="-120"/>
              </a:rPr>
              <a:t>Regulatory Readiness</a:t>
            </a:r>
            <a:endParaRPr lang="en-US" sz="800" dirty="0"/>
          </a:p>
        </p:txBody>
      </p:sp>
      <p:sp>
        <p:nvSpPr>
          <p:cNvPr id="24" name="Text 20"/>
          <p:cNvSpPr/>
          <p:nvPr/>
        </p:nvSpPr>
        <p:spPr>
          <a:xfrm>
            <a:off x="7315200" y="2055614"/>
            <a:ext cx="142875" cy="175022"/>
          </a:xfrm>
          <a:prstGeom prst="rect">
            <a:avLst/>
          </a:prstGeom>
          <a:noFill/>
          <a:ln/>
        </p:spPr>
        <p:txBody>
          <a:bodyPr wrap="none" lIns="0" tIns="0" rIns="0" bIns="0" rtlCol="0" anchor="t">
            <a:spAutoFit/>
          </a:bodyPr>
          <a:lstStyle/>
          <a:p>
            <a:pPr marL="0" indent="0" algn="ctr">
              <a:buNone/>
            </a:pPr>
            <a:r>
              <a:rPr lang="en-US" sz="1050" dirty="0">
                <a:solidFill>
                  <a:srgbClr val="007A86"/>
                </a:solidFill>
                <a:latin typeface="Calibri" pitchFamily="34" charset="0"/>
                <a:ea typeface="Inter" pitchFamily="34" charset="-122"/>
                <a:cs typeface="Inter" pitchFamily="34" charset="-120"/>
              </a:rPr>
              <a:t>→</a:t>
            </a:r>
            <a:endParaRPr lang="en-US" sz="1050" dirty="0"/>
          </a:p>
        </p:txBody>
      </p:sp>
      <p:sp>
        <p:nvSpPr>
          <p:cNvPr id="25" name="Shape 21"/>
          <p:cNvSpPr/>
          <p:nvPr/>
        </p:nvSpPr>
        <p:spPr>
          <a:xfrm>
            <a:off x="7486650" y="1571625"/>
            <a:ext cx="1314450" cy="1143000"/>
          </a:xfrm>
          <a:prstGeom prst="rect">
            <a:avLst/>
          </a:prstGeom>
          <a:solidFill>
            <a:srgbClr val="F8F9FA"/>
          </a:solidFill>
          <a:ln w="9144">
            <a:solidFill>
              <a:srgbClr val="E2E8F0"/>
            </a:solidFill>
            <a:prstDash val="solid"/>
          </a:ln>
        </p:spPr>
        <p:txBody>
          <a:bodyPr/>
          <a:lstStyle/>
          <a:p>
            <a:endParaRPr/>
          </a:p>
        </p:txBody>
      </p:sp>
      <p:sp>
        <p:nvSpPr>
          <p:cNvPr id="26" name="Text 22"/>
          <p:cNvSpPr/>
          <p:nvPr/>
        </p:nvSpPr>
        <p:spPr>
          <a:xfrm>
            <a:off x="7600950" y="1855589"/>
            <a:ext cx="1085850" cy="210741"/>
          </a:xfrm>
          <a:prstGeom prst="rect">
            <a:avLst/>
          </a:prstGeom>
          <a:noFill/>
          <a:ln/>
        </p:spPr>
        <p:txBody>
          <a:bodyPr wrap="none" lIns="0" tIns="0" rIns="0" bIns="0" rtlCol="0" anchor="t">
            <a:spAutoFit/>
          </a:bodyPr>
          <a:lstStyle/>
          <a:p>
            <a:pPr marL="0" indent="0" algn="ctr">
              <a:buNone/>
            </a:pPr>
            <a:r>
              <a:rPr lang="en-US" sz="1250" dirty="0">
                <a:solidFill>
                  <a:srgbClr val="007A86"/>
                </a:solidFill>
                <a:latin typeface="Calibri" pitchFamily="34" charset="0"/>
                <a:ea typeface="Inter" pitchFamily="34" charset="-122"/>
                <a:cs typeface="Inter" pitchFamily="34" charset="-120"/>
              </a:rPr>
              <a:t>📈</a:t>
            </a:r>
            <a:endParaRPr lang="en-US" sz="1250" dirty="0"/>
          </a:p>
        </p:txBody>
      </p:sp>
      <p:sp>
        <p:nvSpPr>
          <p:cNvPr id="27" name="Text 23"/>
          <p:cNvSpPr/>
          <p:nvPr/>
        </p:nvSpPr>
        <p:spPr>
          <a:xfrm>
            <a:off x="7600950" y="2152055"/>
            <a:ext cx="1085850" cy="278606"/>
          </a:xfrm>
          <a:prstGeom prst="rect">
            <a:avLst/>
          </a:prstGeom>
          <a:noFill/>
          <a:ln/>
        </p:spPr>
        <p:txBody>
          <a:bodyPr wrap="none" lIns="0" tIns="0" rIns="0" bIns="0" rtlCol="0" anchor="t">
            <a:spAutoFit/>
          </a:bodyPr>
          <a:lstStyle/>
          <a:p>
            <a:pPr marL="0" indent="0" algn="ctr">
              <a:buNone/>
            </a:pPr>
            <a:r>
              <a:rPr lang="en-US" sz="800" b="1" dirty="0">
                <a:solidFill>
                  <a:srgbClr val="0B1E36"/>
                </a:solidFill>
                <a:latin typeface="Calibri" pitchFamily="34" charset="0"/>
                <a:ea typeface="Inter SemiBold" pitchFamily="34" charset="-122"/>
                <a:cs typeface="Inter SemiBold" pitchFamily="34" charset="-120"/>
              </a:rPr>
              <a:t>Actionable Dashboard</a:t>
            </a:r>
            <a:endParaRPr lang="en-US" sz="800" dirty="0"/>
          </a:p>
        </p:txBody>
      </p:sp>
      <p:sp>
        <p:nvSpPr>
          <p:cNvPr id="28" name="Text 24"/>
          <p:cNvSpPr/>
          <p:nvPr/>
        </p:nvSpPr>
        <p:spPr>
          <a:xfrm>
            <a:off x="342900" y="3171825"/>
            <a:ext cx="4057650" cy="175022"/>
          </a:xfrm>
          <a:prstGeom prst="rect">
            <a:avLst/>
          </a:prstGeom>
          <a:noFill/>
          <a:ln/>
        </p:spPr>
        <p:txBody>
          <a:bodyPr wrap="square" lIns="0" tIns="0" rIns="0" bIns="0" rtlCol="0" anchor="t">
            <a:spAutoFit/>
          </a:bodyPr>
          <a:lstStyle/>
          <a:p>
            <a:pPr marL="0" indent="0" algn="l">
              <a:buNone/>
            </a:pPr>
            <a:r>
              <a:rPr lang="en-US" sz="1000" b="1" dirty="0">
                <a:solidFill>
                  <a:srgbClr val="007A86"/>
                </a:solidFill>
                <a:latin typeface="Calibri" pitchFamily="34" charset="0"/>
                <a:ea typeface="Inter SemiBold" pitchFamily="34" charset="-122"/>
                <a:cs typeface="Inter SemiBold" pitchFamily="34" charset="-120"/>
              </a:rPr>
              <a:t>Automated Signal Identification</a:t>
            </a:r>
            <a:endParaRPr lang="en-US" sz="1000" dirty="0"/>
          </a:p>
        </p:txBody>
      </p:sp>
      <p:sp>
        <p:nvSpPr>
          <p:cNvPr id="29" name="Text 25"/>
          <p:cNvSpPr/>
          <p:nvPr/>
        </p:nvSpPr>
        <p:spPr>
          <a:xfrm>
            <a:off x="342900" y="3432572"/>
            <a:ext cx="4057650" cy="578644"/>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4A5568"/>
                </a:solidFill>
                <a:latin typeface="Calibri" pitchFamily="34" charset="0"/>
                <a:ea typeface="Inter" pitchFamily="34" charset="-122"/>
                <a:cs typeface="Inter" pitchFamily="34" charset="-120"/>
              </a:rPr>
              <a:t>PharmaGuard uses statistical PRR and Chi-square logic to instantly flag disproportionate reporting patterns in adverse event data.</a:t>
            </a:r>
            <a:endParaRPr lang="en-US" sz="950" dirty="0"/>
          </a:p>
        </p:txBody>
      </p:sp>
      <p:sp>
        <p:nvSpPr>
          <p:cNvPr id="30" name="Text 26"/>
          <p:cNvSpPr/>
          <p:nvPr/>
        </p:nvSpPr>
        <p:spPr>
          <a:xfrm>
            <a:off x="4743450" y="3171825"/>
            <a:ext cx="4057650" cy="175022"/>
          </a:xfrm>
          <a:prstGeom prst="rect">
            <a:avLst/>
          </a:prstGeom>
          <a:noFill/>
          <a:ln/>
        </p:spPr>
        <p:txBody>
          <a:bodyPr wrap="square" lIns="0" tIns="0" rIns="0" bIns="0" rtlCol="0" anchor="t">
            <a:spAutoFit/>
          </a:bodyPr>
          <a:lstStyle/>
          <a:p>
            <a:pPr marL="0" indent="0" algn="l">
              <a:buNone/>
            </a:pPr>
            <a:r>
              <a:rPr lang="en-US" sz="1000" b="1" dirty="0">
                <a:solidFill>
                  <a:srgbClr val="007A86"/>
                </a:solidFill>
                <a:latin typeface="Calibri" pitchFamily="34" charset="0"/>
                <a:ea typeface="Inter SemiBold" pitchFamily="34" charset="-122"/>
                <a:cs typeface="Inter SemiBold" pitchFamily="34" charset="-120"/>
              </a:rPr>
              <a:t>Regulatory Gap Analysis</a:t>
            </a:r>
            <a:endParaRPr lang="en-US" sz="1000" dirty="0"/>
          </a:p>
        </p:txBody>
      </p:sp>
      <p:sp>
        <p:nvSpPr>
          <p:cNvPr id="31" name="Text 27"/>
          <p:cNvSpPr/>
          <p:nvPr/>
        </p:nvSpPr>
        <p:spPr>
          <a:xfrm>
            <a:off x="4743450" y="3432572"/>
            <a:ext cx="4057650" cy="578644"/>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4A5568"/>
                </a:solidFill>
                <a:latin typeface="Calibri" pitchFamily="34" charset="0"/>
                <a:ea typeface="Inter" pitchFamily="34" charset="-122"/>
                <a:cs typeface="Inter" pitchFamily="34" charset="-120"/>
              </a:rPr>
              <a:t>The system maps submitted dossiers against CTD structures, identifying missing critical modules to ensure submission readiness.</a:t>
            </a:r>
            <a:endParaRPr lang="en-US" sz="950" dirty="0"/>
          </a:p>
        </p:txBody>
      </p:sp>
      <p:sp>
        <p:nvSpPr>
          <p:cNvPr id="32" name="Text 28"/>
          <p:cNvSpPr/>
          <p:nvPr/>
        </p:nvSpPr>
        <p:spPr>
          <a:xfrm>
            <a:off x="8676084" y="4679156"/>
            <a:ext cx="125016" cy="121444"/>
          </a:xfrm>
          <a:prstGeom prst="rect">
            <a:avLst/>
          </a:prstGeom>
          <a:noFill/>
          <a:ln/>
        </p:spPr>
        <p:txBody>
          <a:bodyPr wrap="none" lIns="0" tIns="0" rIns="0" bIns="0" rtlCol="0" anchor="t">
            <a:spAutoFit/>
          </a:bodyPr>
          <a:lstStyle/>
          <a:p>
            <a:pPr marL="0" indent="0" algn="l">
              <a:buNone/>
            </a:pPr>
            <a:r>
              <a:rPr lang="en-US" sz="750" dirty="0">
                <a:solidFill>
                  <a:srgbClr val="0B1E36">
                    <a:alpha val="50000"/>
                  </a:srgbClr>
                </a:solidFill>
                <a:latin typeface="Calibri" pitchFamily="34" charset="0"/>
                <a:ea typeface="Inter" pitchFamily="34" charset="-122"/>
                <a:cs typeface="Inter" pitchFamily="34" charset="-120"/>
              </a:rPr>
              <a:t>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257175" y="228600"/>
            <a:ext cx="8629650" cy="210015"/>
          </a:xfrm>
          <a:prstGeom prst="rect">
            <a:avLst/>
          </a:prstGeom>
          <a:noFill/>
          <a:ln/>
        </p:spPr>
        <p:txBody>
          <a:bodyPr wrap="none" lIns="0" tIns="0" rIns="0" bIns="0" rtlCol="0" anchor="t">
            <a:spAutoFit/>
          </a:bodyPr>
          <a:lstStyle/>
          <a:p>
            <a:pPr marL="0" indent="0" algn="l">
              <a:lnSpc>
                <a:spcPct val="84000"/>
              </a:lnSpc>
              <a:buNone/>
            </a:pPr>
            <a:r>
              <a:rPr lang="en-US" sz="1400" b="1" dirty="0">
                <a:solidFill>
                  <a:srgbClr val="0B1E36"/>
                </a:solidFill>
                <a:latin typeface="Calibri" pitchFamily="34" charset="0"/>
                <a:ea typeface="Inter SemiBold" pitchFamily="34" charset="-122"/>
                <a:cs typeface="Inter SemiBold" pitchFamily="34" charset="-120"/>
              </a:rPr>
              <a:t>System Architecture: Transparent, Browser-Based Logic</a:t>
            </a:r>
            <a:endParaRPr lang="en-US" sz="1400" dirty="0"/>
          </a:p>
        </p:txBody>
      </p:sp>
      <p:sp>
        <p:nvSpPr>
          <p:cNvPr id="5" name="Shape 1"/>
          <p:cNvSpPr/>
          <p:nvPr/>
        </p:nvSpPr>
        <p:spPr>
          <a:xfrm>
            <a:off x="257175" y="581490"/>
            <a:ext cx="1857375" cy="342900"/>
          </a:xfrm>
          <a:prstGeom prst="rect">
            <a:avLst/>
          </a:prstGeom>
          <a:solidFill>
            <a:srgbClr val="F8F9FA"/>
          </a:solidFill>
          <a:ln w="9144">
            <a:solidFill>
              <a:srgbClr val="E2E8F0"/>
            </a:solidFill>
            <a:prstDash val="solid"/>
          </a:ln>
        </p:spPr>
        <p:txBody>
          <a:bodyPr/>
          <a:lstStyle/>
          <a:p>
            <a:endParaRPr/>
          </a:p>
        </p:txBody>
      </p:sp>
      <p:sp>
        <p:nvSpPr>
          <p:cNvPr id="6" name="Text 2"/>
          <p:cNvSpPr/>
          <p:nvPr/>
        </p:nvSpPr>
        <p:spPr>
          <a:xfrm>
            <a:off x="257175" y="581490"/>
            <a:ext cx="1857375" cy="342900"/>
          </a:xfrm>
          <a:prstGeom prst="rect">
            <a:avLst/>
          </a:prstGeom>
          <a:noFill/>
          <a:ln/>
        </p:spPr>
        <p:txBody>
          <a:bodyPr wrap="square" lIns="119126" tIns="119126" rIns="119126" bIns="119126" rtlCol="0" anchor="t">
            <a:spAutoFit/>
          </a:bodyPr>
          <a:lstStyle/>
          <a:p>
            <a:pPr marL="0" indent="0" algn="ctr">
              <a:buNone/>
            </a:pPr>
            <a:r>
              <a:rPr lang="en-US" sz="750" b="1" dirty="0">
                <a:solidFill>
                  <a:srgbClr val="0B1E36"/>
                </a:solidFill>
                <a:latin typeface="Calibri" pitchFamily="34" charset="0"/>
                <a:ea typeface="Inter SemiBold" pitchFamily="34" charset="-122"/>
                <a:cs typeface="Inter SemiBold" pitchFamily="34" charset="-120"/>
              </a:rPr>
              <a:t>User / Safety Data (CSV/Text)</a:t>
            </a:r>
            <a:endParaRPr lang="en-US" sz="750" dirty="0"/>
          </a:p>
        </p:txBody>
      </p:sp>
      <p:sp>
        <p:nvSpPr>
          <p:cNvPr id="7" name="Text 3"/>
          <p:cNvSpPr/>
          <p:nvPr/>
        </p:nvSpPr>
        <p:spPr>
          <a:xfrm>
            <a:off x="257175" y="938678"/>
            <a:ext cx="1857375" cy="128588"/>
          </a:xfrm>
          <a:prstGeom prst="rect">
            <a:avLst/>
          </a:prstGeom>
          <a:noFill/>
          <a:ln/>
        </p:spPr>
        <p:txBody>
          <a:bodyPr wrap="none" lIns="0" tIns="0" rIns="0" bIns="0" rtlCol="0" anchor="t">
            <a:spAutoFit/>
          </a:bodyPr>
          <a:lstStyle/>
          <a:p>
            <a:pPr marL="0" indent="0" algn="ctr">
              <a:lnSpc>
                <a:spcPct val="80000"/>
              </a:lnSpc>
              <a:buNone/>
            </a:pPr>
            <a:r>
              <a:rPr lang="en-US" sz="950" dirty="0">
                <a:solidFill>
                  <a:srgbClr val="007A86"/>
                </a:solidFill>
                <a:latin typeface="Calibri" pitchFamily="34" charset="0"/>
                <a:ea typeface="Inter" pitchFamily="34" charset="-122"/>
                <a:cs typeface="Inter" pitchFamily="34" charset="-120"/>
              </a:rPr>
              <a:t>↓</a:t>
            </a:r>
            <a:endParaRPr lang="en-US" sz="950" dirty="0"/>
          </a:p>
        </p:txBody>
      </p:sp>
      <p:sp>
        <p:nvSpPr>
          <p:cNvPr id="8" name="Shape 4"/>
          <p:cNvSpPr/>
          <p:nvPr/>
        </p:nvSpPr>
        <p:spPr>
          <a:xfrm>
            <a:off x="257175" y="1095840"/>
            <a:ext cx="1857375" cy="342900"/>
          </a:xfrm>
          <a:prstGeom prst="rect">
            <a:avLst/>
          </a:prstGeom>
          <a:solidFill>
            <a:srgbClr val="F8F9FA"/>
          </a:solidFill>
          <a:ln w="9144">
            <a:solidFill>
              <a:srgbClr val="E2E8F0"/>
            </a:solidFill>
            <a:prstDash val="solid"/>
          </a:ln>
        </p:spPr>
        <p:txBody>
          <a:bodyPr/>
          <a:lstStyle/>
          <a:p>
            <a:endParaRPr/>
          </a:p>
        </p:txBody>
      </p:sp>
      <p:sp>
        <p:nvSpPr>
          <p:cNvPr id="9" name="Text 5"/>
          <p:cNvSpPr/>
          <p:nvPr/>
        </p:nvSpPr>
        <p:spPr>
          <a:xfrm>
            <a:off x="257175" y="1095840"/>
            <a:ext cx="1857375" cy="342900"/>
          </a:xfrm>
          <a:prstGeom prst="rect">
            <a:avLst/>
          </a:prstGeom>
          <a:noFill/>
          <a:ln/>
        </p:spPr>
        <p:txBody>
          <a:bodyPr wrap="square" lIns="119126" tIns="119126" rIns="119126" bIns="119126" rtlCol="0" anchor="t">
            <a:spAutoFit/>
          </a:bodyPr>
          <a:lstStyle/>
          <a:p>
            <a:pPr marL="0" indent="0" algn="ctr">
              <a:buNone/>
            </a:pPr>
            <a:r>
              <a:rPr lang="en-US" sz="750" b="1" dirty="0">
                <a:solidFill>
                  <a:srgbClr val="0B1E36"/>
                </a:solidFill>
                <a:latin typeface="Calibri" pitchFamily="34" charset="0"/>
                <a:ea typeface="Inter SemiBold" pitchFamily="34" charset="-122"/>
                <a:cs typeface="Inter SemiBold" pitchFamily="34" charset="-120"/>
              </a:rPr>
              <a:t>PharmaGuard Application (UI)</a:t>
            </a:r>
            <a:endParaRPr lang="en-US" sz="750" dirty="0"/>
          </a:p>
        </p:txBody>
      </p:sp>
      <p:sp>
        <p:nvSpPr>
          <p:cNvPr id="10" name="Text 6"/>
          <p:cNvSpPr/>
          <p:nvPr/>
        </p:nvSpPr>
        <p:spPr>
          <a:xfrm>
            <a:off x="257175" y="1453028"/>
            <a:ext cx="1857375" cy="128588"/>
          </a:xfrm>
          <a:prstGeom prst="rect">
            <a:avLst/>
          </a:prstGeom>
          <a:noFill/>
          <a:ln/>
        </p:spPr>
        <p:txBody>
          <a:bodyPr wrap="none" lIns="0" tIns="0" rIns="0" bIns="0" rtlCol="0" anchor="t">
            <a:spAutoFit/>
          </a:bodyPr>
          <a:lstStyle/>
          <a:p>
            <a:pPr marL="0" indent="0" algn="ctr">
              <a:lnSpc>
                <a:spcPct val="80000"/>
              </a:lnSpc>
              <a:buNone/>
            </a:pPr>
            <a:r>
              <a:rPr lang="en-US" sz="950" dirty="0">
                <a:solidFill>
                  <a:srgbClr val="007A86"/>
                </a:solidFill>
                <a:latin typeface="Calibri" pitchFamily="34" charset="0"/>
                <a:ea typeface="Inter" pitchFamily="34" charset="-122"/>
                <a:cs typeface="Inter" pitchFamily="34" charset="-120"/>
              </a:rPr>
              <a:t>↓</a:t>
            </a:r>
            <a:endParaRPr lang="en-US" sz="950" dirty="0"/>
          </a:p>
        </p:txBody>
      </p:sp>
      <p:sp>
        <p:nvSpPr>
          <p:cNvPr id="11" name="Shape 7"/>
          <p:cNvSpPr/>
          <p:nvPr/>
        </p:nvSpPr>
        <p:spPr>
          <a:xfrm>
            <a:off x="257175" y="1610190"/>
            <a:ext cx="1857375" cy="471488"/>
          </a:xfrm>
          <a:prstGeom prst="rect">
            <a:avLst/>
          </a:prstGeom>
          <a:solidFill>
            <a:srgbClr val="F8F9FA"/>
          </a:solidFill>
          <a:ln w="9144">
            <a:solidFill>
              <a:srgbClr val="E2E8F0"/>
            </a:solidFill>
            <a:prstDash val="solid"/>
          </a:ln>
        </p:spPr>
        <p:txBody>
          <a:bodyPr/>
          <a:lstStyle/>
          <a:p>
            <a:endParaRPr/>
          </a:p>
        </p:txBody>
      </p:sp>
      <p:sp>
        <p:nvSpPr>
          <p:cNvPr id="12" name="Text 8"/>
          <p:cNvSpPr/>
          <p:nvPr/>
        </p:nvSpPr>
        <p:spPr>
          <a:xfrm>
            <a:off x="257175" y="1610190"/>
            <a:ext cx="1857375" cy="471488"/>
          </a:xfrm>
          <a:prstGeom prst="rect">
            <a:avLst/>
          </a:prstGeom>
          <a:noFill/>
          <a:ln/>
        </p:spPr>
        <p:txBody>
          <a:bodyPr wrap="square" lIns="119126" tIns="119126" rIns="119126" bIns="119126" rtlCol="0" anchor="t">
            <a:spAutoFit/>
          </a:bodyPr>
          <a:lstStyle/>
          <a:p>
            <a:pPr marL="0" indent="0" algn="ctr">
              <a:buNone/>
            </a:pPr>
            <a:r>
              <a:rPr lang="en-US" sz="750" b="1" dirty="0">
                <a:solidFill>
                  <a:srgbClr val="0B1E36"/>
                </a:solidFill>
                <a:latin typeface="Calibri" pitchFamily="34" charset="0"/>
                <a:ea typeface="Inter SemiBold" pitchFamily="34" charset="-122"/>
                <a:cs typeface="Inter SemiBold" pitchFamily="34" charset="-120"/>
              </a:rPr>
              <a:t>Data Processing &amp; Signal Detection</a:t>
            </a:r>
            <a:endParaRPr lang="en-US" sz="750" dirty="0"/>
          </a:p>
        </p:txBody>
      </p:sp>
      <p:sp>
        <p:nvSpPr>
          <p:cNvPr id="13" name="Text 9"/>
          <p:cNvSpPr/>
          <p:nvPr/>
        </p:nvSpPr>
        <p:spPr>
          <a:xfrm>
            <a:off x="257175" y="2095965"/>
            <a:ext cx="1857375" cy="128588"/>
          </a:xfrm>
          <a:prstGeom prst="rect">
            <a:avLst/>
          </a:prstGeom>
          <a:noFill/>
          <a:ln/>
        </p:spPr>
        <p:txBody>
          <a:bodyPr wrap="none" lIns="0" tIns="0" rIns="0" bIns="0" rtlCol="0" anchor="t">
            <a:spAutoFit/>
          </a:bodyPr>
          <a:lstStyle/>
          <a:p>
            <a:pPr marL="0" indent="0" algn="ctr">
              <a:lnSpc>
                <a:spcPct val="80000"/>
              </a:lnSpc>
              <a:buNone/>
            </a:pPr>
            <a:r>
              <a:rPr lang="en-US" sz="950" dirty="0">
                <a:solidFill>
                  <a:srgbClr val="007A86"/>
                </a:solidFill>
                <a:latin typeface="Calibri" pitchFamily="34" charset="0"/>
                <a:ea typeface="Inter" pitchFamily="34" charset="-122"/>
                <a:cs typeface="Inter" pitchFamily="34" charset="-120"/>
              </a:rPr>
              <a:t>↓</a:t>
            </a:r>
            <a:endParaRPr lang="en-US" sz="950" dirty="0"/>
          </a:p>
        </p:txBody>
      </p:sp>
      <p:sp>
        <p:nvSpPr>
          <p:cNvPr id="14" name="Shape 10"/>
          <p:cNvSpPr/>
          <p:nvPr/>
        </p:nvSpPr>
        <p:spPr>
          <a:xfrm>
            <a:off x="257175" y="2253128"/>
            <a:ext cx="1857375" cy="342900"/>
          </a:xfrm>
          <a:prstGeom prst="rect">
            <a:avLst/>
          </a:prstGeom>
          <a:solidFill>
            <a:srgbClr val="F8F9FA"/>
          </a:solidFill>
          <a:ln w="9144">
            <a:solidFill>
              <a:srgbClr val="E2E8F0"/>
            </a:solidFill>
            <a:prstDash val="solid"/>
          </a:ln>
        </p:spPr>
        <p:txBody>
          <a:bodyPr/>
          <a:lstStyle/>
          <a:p>
            <a:endParaRPr/>
          </a:p>
        </p:txBody>
      </p:sp>
      <p:sp>
        <p:nvSpPr>
          <p:cNvPr id="15" name="Text 11"/>
          <p:cNvSpPr/>
          <p:nvPr/>
        </p:nvSpPr>
        <p:spPr>
          <a:xfrm>
            <a:off x="257175" y="2253128"/>
            <a:ext cx="1857375" cy="342900"/>
          </a:xfrm>
          <a:prstGeom prst="rect">
            <a:avLst/>
          </a:prstGeom>
          <a:noFill/>
          <a:ln/>
        </p:spPr>
        <p:txBody>
          <a:bodyPr wrap="square" lIns="119126" tIns="119126" rIns="119126" bIns="119126" rtlCol="0" anchor="t">
            <a:spAutoFit/>
          </a:bodyPr>
          <a:lstStyle/>
          <a:p>
            <a:pPr marL="0" indent="0" algn="ctr">
              <a:buNone/>
            </a:pPr>
            <a:r>
              <a:rPr lang="en-US" sz="750" b="1" dirty="0">
                <a:solidFill>
                  <a:srgbClr val="0B1E36"/>
                </a:solidFill>
                <a:latin typeface="Calibri" pitchFamily="34" charset="0"/>
                <a:ea typeface="Inter SemiBold" pitchFamily="34" charset="-122"/>
                <a:cs typeface="Inter SemiBold" pitchFamily="34" charset="-120"/>
              </a:rPr>
              <a:t>Risk / Statistical Analysis</a:t>
            </a:r>
            <a:endParaRPr lang="en-US" sz="750" dirty="0"/>
          </a:p>
        </p:txBody>
      </p:sp>
      <p:sp>
        <p:nvSpPr>
          <p:cNvPr id="16" name="Text 12"/>
          <p:cNvSpPr/>
          <p:nvPr/>
        </p:nvSpPr>
        <p:spPr>
          <a:xfrm>
            <a:off x="257175" y="2610315"/>
            <a:ext cx="1857375" cy="128588"/>
          </a:xfrm>
          <a:prstGeom prst="rect">
            <a:avLst/>
          </a:prstGeom>
          <a:noFill/>
          <a:ln/>
        </p:spPr>
        <p:txBody>
          <a:bodyPr wrap="none" lIns="0" tIns="0" rIns="0" bIns="0" rtlCol="0" anchor="t">
            <a:spAutoFit/>
          </a:bodyPr>
          <a:lstStyle/>
          <a:p>
            <a:pPr marL="0" indent="0" algn="ctr">
              <a:lnSpc>
                <a:spcPct val="80000"/>
              </a:lnSpc>
              <a:buNone/>
            </a:pPr>
            <a:r>
              <a:rPr lang="en-US" sz="950" dirty="0">
                <a:solidFill>
                  <a:srgbClr val="007A86"/>
                </a:solidFill>
                <a:latin typeface="Calibri" pitchFamily="34" charset="0"/>
                <a:ea typeface="Inter" pitchFamily="34" charset="-122"/>
                <a:cs typeface="Inter" pitchFamily="34" charset="-120"/>
              </a:rPr>
              <a:t>↓</a:t>
            </a:r>
            <a:endParaRPr lang="en-US" sz="950" dirty="0"/>
          </a:p>
        </p:txBody>
      </p:sp>
      <p:sp>
        <p:nvSpPr>
          <p:cNvPr id="17" name="Shape 13"/>
          <p:cNvSpPr/>
          <p:nvPr/>
        </p:nvSpPr>
        <p:spPr>
          <a:xfrm>
            <a:off x="257175" y="2767478"/>
            <a:ext cx="1857375" cy="342900"/>
          </a:xfrm>
          <a:prstGeom prst="rect">
            <a:avLst/>
          </a:prstGeom>
          <a:solidFill>
            <a:srgbClr val="F8F9FA"/>
          </a:solidFill>
          <a:ln w="9144">
            <a:solidFill>
              <a:srgbClr val="E2E8F0"/>
            </a:solidFill>
            <a:prstDash val="solid"/>
          </a:ln>
        </p:spPr>
        <p:txBody>
          <a:bodyPr/>
          <a:lstStyle/>
          <a:p>
            <a:endParaRPr/>
          </a:p>
        </p:txBody>
      </p:sp>
      <p:sp>
        <p:nvSpPr>
          <p:cNvPr id="18" name="Text 14"/>
          <p:cNvSpPr/>
          <p:nvPr/>
        </p:nvSpPr>
        <p:spPr>
          <a:xfrm>
            <a:off x="257175" y="2767478"/>
            <a:ext cx="1857375" cy="342900"/>
          </a:xfrm>
          <a:prstGeom prst="rect">
            <a:avLst/>
          </a:prstGeom>
          <a:noFill/>
          <a:ln/>
        </p:spPr>
        <p:txBody>
          <a:bodyPr wrap="square" lIns="119126" tIns="119126" rIns="119126" bIns="119126" rtlCol="0" anchor="t">
            <a:spAutoFit/>
          </a:bodyPr>
          <a:lstStyle/>
          <a:p>
            <a:pPr marL="0" indent="0" algn="ctr">
              <a:buNone/>
            </a:pPr>
            <a:r>
              <a:rPr lang="en-US" sz="750" b="1" dirty="0">
                <a:solidFill>
                  <a:srgbClr val="0B1E36"/>
                </a:solidFill>
                <a:latin typeface="Calibri" pitchFamily="34" charset="0"/>
                <a:ea typeface="Inter SemiBold" pitchFamily="34" charset="-122"/>
                <a:cs typeface="Inter SemiBold" pitchFamily="34" charset="-120"/>
              </a:rPr>
              <a:t>Dashboard / Regulatory Output</a:t>
            </a:r>
            <a:endParaRPr lang="en-US" sz="750" dirty="0"/>
          </a:p>
        </p:txBody>
      </p:sp>
      <p:sp>
        <p:nvSpPr>
          <p:cNvPr id="19" name="Shape 15"/>
          <p:cNvSpPr/>
          <p:nvPr/>
        </p:nvSpPr>
        <p:spPr>
          <a:xfrm>
            <a:off x="2286000" y="581490"/>
            <a:ext cx="6600825" cy="1821656"/>
          </a:xfrm>
          <a:prstGeom prst="rect">
            <a:avLst/>
          </a:prstGeom>
          <a:solidFill>
            <a:srgbClr val="0B1E36"/>
          </a:solidFill>
          <a:ln/>
        </p:spPr>
        <p:txBody>
          <a:bodyPr/>
          <a:lstStyle/>
          <a:p>
            <a:endParaRPr/>
          </a:p>
        </p:txBody>
      </p:sp>
      <p:sp>
        <p:nvSpPr>
          <p:cNvPr id="20" name="Text 16"/>
          <p:cNvSpPr/>
          <p:nvPr/>
        </p:nvSpPr>
        <p:spPr>
          <a:xfrm>
            <a:off x="2443163" y="738653"/>
            <a:ext cx="3086100" cy="110728"/>
          </a:xfrm>
          <a:prstGeom prst="rect">
            <a:avLst/>
          </a:prstGeom>
          <a:noFill/>
          <a:ln/>
        </p:spPr>
        <p:txBody>
          <a:bodyPr wrap="square" lIns="0" tIns="0" rIns="0" bIns="0" rtlCol="0" anchor="t">
            <a:spAutoFit/>
          </a:bodyPr>
          <a:lstStyle/>
          <a:p>
            <a:pPr marL="0" indent="0" algn="l">
              <a:buNone/>
            </a:pPr>
            <a:r>
              <a:rPr lang="en-US" sz="650" b="1" kern="0" spc="1" dirty="0">
                <a:solidFill>
                  <a:srgbClr val="7FE0E6"/>
                </a:solidFill>
                <a:latin typeface="Calibri" pitchFamily="34" charset="0"/>
                <a:ea typeface="Inter SemiBold" pitchFamily="34" charset="-122"/>
                <a:cs typeface="Inter SemiBold" pitchFamily="34" charset="-120"/>
              </a:rPr>
              <a:t>FRONTEND &amp; LOGIC</a:t>
            </a:r>
            <a:endParaRPr lang="en-US" sz="650" dirty="0"/>
          </a:p>
        </p:txBody>
      </p:sp>
      <p:sp>
        <p:nvSpPr>
          <p:cNvPr id="21" name="Text 17"/>
          <p:cNvSpPr/>
          <p:nvPr/>
        </p:nvSpPr>
        <p:spPr>
          <a:xfrm>
            <a:off x="2443163" y="935106"/>
            <a:ext cx="3086100" cy="128588"/>
          </a:xfrm>
          <a:prstGeom prst="rect">
            <a:avLst/>
          </a:prstGeom>
          <a:noFill/>
          <a:ln/>
        </p:spPr>
        <p:txBody>
          <a:bodyPr wrap="square" lIns="0" tIns="0" rIns="0" bIns="0" rtlCol="0" anchor="t">
            <a:spAutoFit/>
          </a:bodyPr>
          <a:lstStyle/>
          <a:p>
            <a:pPr marL="0" indent="0" algn="l">
              <a:buNone/>
            </a:pPr>
            <a:r>
              <a:rPr lang="en-US" sz="800" dirty="0">
                <a:solidFill>
                  <a:srgbClr val="E6F7F8"/>
                </a:solidFill>
                <a:latin typeface="Calibri" pitchFamily="34" charset="0"/>
                <a:ea typeface="Inter" pitchFamily="34" charset="-122"/>
                <a:cs typeface="Inter" pitchFamily="34" charset="-120"/>
              </a:rPr>
              <a:t>JavaScript (ES6+)</a:t>
            </a:r>
            <a:endParaRPr lang="en-US" sz="800" dirty="0"/>
          </a:p>
        </p:txBody>
      </p:sp>
      <p:sp>
        <p:nvSpPr>
          <p:cNvPr id="22" name="Text 18"/>
          <p:cNvSpPr/>
          <p:nvPr/>
        </p:nvSpPr>
        <p:spPr>
          <a:xfrm>
            <a:off x="2443163" y="1120843"/>
            <a:ext cx="3086100" cy="128588"/>
          </a:xfrm>
          <a:prstGeom prst="rect">
            <a:avLst/>
          </a:prstGeom>
          <a:noFill/>
          <a:ln/>
        </p:spPr>
        <p:txBody>
          <a:bodyPr wrap="square" lIns="0" tIns="0" rIns="0" bIns="0" rtlCol="0" anchor="t">
            <a:spAutoFit/>
          </a:bodyPr>
          <a:lstStyle/>
          <a:p>
            <a:pPr marL="0" indent="0" algn="l">
              <a:buNone/>
            </a:pPr>
            <a:r>
              <a:rPr lang="en-US" sz="800" dirty="0">
                <a:solidFill>
                  <a:srgbClr val="E6F7F8"/>
                </a:solidFill>
                <a:latin typeface="Calibri" pitchFamily="34" charset="0"/>
                <a:ea typeface="Inter" pitchFamily="34" charset="-122"/>
                <a:cs typeface="Inter" pitchFamily="34" charset="-120"/>
              </a:rPr>
              <a:t>HTML5 / CSS3</a:t>
            </a:r>
            <a:endParaRPr lang="en-US" sz="800" dirty="0"/>
          </a:p>
        </p:txBody>
      </p:sp>
      <p:sp>
        <p:nvSpPr>
          <p:cNvPr id="23" name="Text 19"/>
          <p:cNvSpPr/>
          <p:nvPr/>
        </p:nvSpPr>
        <p:spPr>
          <a:xfrm>
            <a:off x="2443163" y="1306581"/>
            <a:ext cx="3086100" cy="128588"/>
          </a:xfrm>
          <a:prstGeom prst="rect">
            <a:avLst/>
          </a:prstGeom>
          <a:noFill/>
          <a:ln/>
        </p:spPr>
        <p:txBody>
          <a:bodyPr wrap="square" lIns="0" tIns="0" rIns="0" bIns="0" rtlCol="0" anchor="t">
            <a:spAutoFit/>
          </a:bodyPr>
          <a:lstStyle/>
          <a:p>
            <a:pPr marL="0" indent="0" algn="l">
              <a:buNone/>
            </a:pPr>
            <a:r>
              <a:rPr lang="en-US" sz="800" dirty="0">
                <a:solidFill>
                  <a:srgbClr val="E6F7F8"/>
                </a:solidFill>
                <a:latin typeface="Calibri" pitchFamily="34" charset="0"/>
                <a:ea typeface="Inter" pitchFamily="34" charset="-122"/>
                <a:cs typeface="Inter" pitchFamily="34" charset="-120"/>
              </a:rPr>
              <a:t>PapaParse (CSV Parsing)</a:t>
            </a:r>
            <a:endParaRPr lang="en-US" sz="800" dirty="0"/>
          </a:p>
        </p:txBody>
      </p:sp>
      <p:sp>
        <p:nvSpPr>
          <p:cNvPr id="24" name="Text 20"/>
          <p:cNvSpPr/>
          <p:nvPr/>
        </p:nvSpPr>
        <p:spPr>
          <a:xfrm>
            <a:off x="2443163" y="1492318"/>
            <a:ext cx="3086100" cy="128588"/>
          </a:xfrm>
          <a:prstGeom prst="rect">
            <a:avLst/>
          </a:prstGeom>
          <a:noFill/>
          <a:ln/>
        </p:spPr>
        <p:txBody>
          <a:bodyPr wrap="square" lIns="0" tIns="0" rIns="0" bIns="0" rtlCol="0" anchor="t">
            <a:spAutoFit/>
          </a:bodyPr>
          <a:lstStyle/>
          <a:p>
            <a:pPr marL="0" indent="0" algn="l">
              <a:buNone/>
            </a:pPr>
            <a:r>
              <a:rPr lang="en-US" sz="800" dirty="0">
                <a:solidFill>
                  <a:srgbClr val="E6F7F8"/>
                </a:solidFill>
                <a:latin typeface="Calibri" pitchFamily="34" charset="0"/>
                <a:ea typeface="Inter" pitchFamily="34" charset="-122"/>
                <a:cs typeface="Inter" pitchFamily="34" charset="-120"/>
              </a:rPr>
              <a:t>Chart.js (Visualization)</a:t>
            </a:r>
            <a:endParaRPr lang="en-US" sz="800" dirty="0"/>
          </a:p>
        </p:txBody>
      </p:sp>
      <p:sp>
        <p:nvSpPr>
          <p:cNvPr id="25" name="Text 21"/>
          <p:cNvSpPr/>
          <p:nvPr/>
        </p:nvSpPr>
        <p:spPr>
          <a:xfrm>
            <a:off x="5643563" y="738653"/>
            <a:ext cx="3086100" cy="110728"/>
          </a:xfrm>
          <a:prstGeom prst="rect">
            <a:avLst/>
          </a:prstGeom>
          <a:noFill/>
          <a:ln/>
        </p:spPr>
        <p:txBody>
          <a:bodyPr wrap="square" lIns="0" tIns="0" rIns="0" bIns="0" rtlCol="0" anchor="t">
            <a:spAutoFit/>
          </a:bodyPr>
          <a:lstStyle/>
          <a:p>
            <a:pPr marL="0" indent="0" algn="l">
              <a:buNone/>
            </a:pPr>
            <a:r>
              <a:rPr lang="en-US" sz="650" b="1" kern="0" spc="1" dirty="0">
                <a:solidFill>
                  <a:srgbClr val="7FE0E6"/>
                </a:solidFill>
                <a:latin typeface="Calibri" pitchFamily="34" charset="0"/>
                <a:ea typeface="Inter SemiBold" pitchFamily="34" charset="-122"/>
                <a:cs typeface="Inter SemiBold" pitchFamily="34" charset="-120"/>
              </a:rPr>
              <a:t>ANALYTICAL ENGINE</a:t>
            </a:r>
            <a:endParaRPr lang="en-US" sz="650" dirty="0"/>
          </a:p>
        </p:txBody>
      </p:sp>
      <p:sp>
        <p:nvSpPr>
          <p:cNvPr id="26" name="Text 22"/>
          <p:cNvSpPr/>
          <p:nvPr/>
        </p:nvSpPr>
        <p:spPr>
          <a:xfrm>
            <a:off x="5643563" y="935106"/>
            <a:ext cx="3086100" cy="128588"/>
          </a:xfrm>
          <a:prstGeom prst="rect">
            <a:avLst/>
          </a:prstGeom>
          <a:noFill/>
          <a:ln/>
        </p:spPr>
        <p:txBody>
          <a:bodyPr wrap="square" lIns="0" tIns="0" rIns="0" bIns="0" rtlCol="0" anchor="t">
            <a:spAutoFit/>
          </a:bodyPr>
          <a:lstStyle/>
          <a:p>
            <a:pPr marL="0" indent="0" algn="l">
              <a:buNone/>
            </a:pPr>
            <a:r>
              <a:rPr lang="en-US" sz="800" dirty="0">
                <a:solidFill>
                  <a:srgbClr val="E6F7F8"/>
                </a:solidFill>
                <a:latin typeface="Calibri" pitchFamily="34" charset="0"/>
                <a:ea typeface="Inter" pitchFamily="34" charset="-122"/>
                <a:cs typeface="Inter" pitchFamily="34" charset="-120"/>
              </a:rPr>
              <a:t>PRR Calculation Logic</a:t>
            </a:r>
            <a:endParaRPr lang="en-US" sz="800" dirty="0"/>
          </a:p>
        </p:txBody>
      </p:sp>
      <p:sp>
        <p:nvSpPr>
          <p:cNvPr id="27" name="Text 23"/>
          <p:cNvSpPr/>
          <p:nvPr/>
        </p:nvSpPr>
        <p:spPr>
          <a:xfrm>
            <a:off x="5643563" y="1120843"/>
            <a:ext cx="3086100" cy="128588"/>
          </a:xfrm>
          <a:prstGeom prst="rect">
            <a:avLst/>
          </a:prstGeom>
          <a:noFill/>
          <a:ln/>
        </p:spPr>
        <p:txBody>
          <a:bodyPr wrap="square" lIns="0" tIns="0" rIns="0" bIns="0" rtlCol="0" anchor="t">
            <a:spAutoFit/>
          </a:bodyPr>
          <a:lstStyle/>
          <a:p>
            <a:pPr marL="0" indent="0" algn="l">
              <a:buNone/>
            </a:pPr>
            <a:r>
              <a:rPr lang="en-US" sz="800" dirty="0">
                <a:solidFill>
                  <a:srgbClr val="E6F7F8"/>
                </a:solidFill>
                <a:latin typeface="Calibri" pitchFamily="34" charset="0"/>
                <a:ea typeface="Inter" pitchFamily="34" charset="-122"/>
                <a:cs typeface="Inter" pitchFamily="34" charset="-120"/>
              </a:rPr>
              <a:t>Chi-Square Statistics</a:t>
            </a:r>
            <a:endParaRPr lang="en-US" sz="800" dirty="0"/>
          </a:p>
        </p:txBody>
      </p:sp>
      <p:sp>
        <p:nvSpPr>
          <p:cNvPr id="28" name="Text 24"/>
          <p:cNvSpPr/>
          <p:nvPr/>
        </p:nvSpPr>
        <p:spPr>
          <a:xfrm>
            <a:off x="5643563" y="1306581"/>
            <a:ext cx="3086100" cy="128588"/>
          </a:xfrm>
          <a:prstGeom prst="rect">
            <a:avLst/>
          </a:prstGeom>
          <a:noFill/>
          <a:ln/>
        </p:spPr>
        <p:txBody>
          <a:bodyPr wrap="square" lIns="0" tIns="0" rIns="0" bIns="0" rtlCol="0" anchor="t">
            <a:spAutoFit/>
          </a:bodyPr>
          <a:lstStyle/>
          <a:p>
            <a:pPr marL="0" indent="0" algn="l">
              <a:buNone/>
            </a:pPr>
            <a:r>
              <a:rPr lang="en-US" sz="800" dirty="0">
                <a:solidFill>
                  <a:srgbClr val="E6F7F8"/>
                </a:solidFill>
                <a:latin typeface="Calibri" pitchFamily="34" charset="0"/>
                <a:ea typeface="Inter" pitchFamily="34" charset="-122"/>
                <a:cs typeface="Inter" pitchFamily="34" charset="-120"/>
              </a:rPr>
              <a:t>Trend Analysis Engine</a:t>
            </a:r>
            <a:endParaRPr lang="en-US" sz="800" dirty="0"/>
          </a:p>
        </p:txBody>
      </p:sp>
      <p:sp>
        <p:nvSpPr>
          <p:cNvPr id="29" name="Text 25"/>
          <p:cNvSpPr/>
          <p:nvPr/>
        </p:nvSpPr>
        <p:spPr>
          <a:xfrm>
            <a:off x="5643563" y="1492318"/>
            <a:ext cx="3086100" cy="128588"/>
          </a:xfrm>
          <a:prstGeom prst="rect">
            <a:avLst/>
          </a:prstGeom>
          <a:noFill/>
          <a:ln/>
        </p:spPr>
        <p:txBody>
          <a:bodyPr wrap="square" lIns="0" tIns="0" rIns="0" bIns="0" rtlCol="0" anchor="t">
            <a:spAutoFit/>
          </a:bodyPr>
          <a:lstStyle/>
          <a:p>
            <a:pPr marL="0" indent="0" algn="l">
              <a:buNone/>
            </a:pPr>
            <a:r>
              <a:rPr lang="en-US" sz="800" dirty="0">
                <a:solidFill>
                  <a:srgbClr val="E6F7F8"/>
                </a:solidFill>
                <a:latin typeface="Calibri" pitchFamily="34" charset="0"/>
                <a:ea typeface="Inter" pitchFamily="34" charset="-122"/>
                <a:cs typeface="Inter" pitchFamily="34" charset="-120"/>
              </a:rPr>
              <a:t>CTD Readiness Mapper</a:t>
            </a:r>
            <a:endParaRPr lang="en-US" sz="800" dirty="0"/>
          </a:p>
        </p:txBody>
      </p:sp>
      <p:sp>
        <p:nvSpPr>
          <p:cNvPr id="30" name="Text 26"/>
          <p:cNvSpPr/>
          <p:nvPr/>
        </p:nvSpPr>
        <p:spPr>
          <a:xfrm>
            <a:off x="2443163" y="1735206"/>
            <a:ext cx="3086100" cy="110728"/>
          </a:xfrm>
          <a:prstGeom prst="rect">
            <a:avLst/>
          </a:prstGeom>
          <a:noFill/>
          <a:ln/>
        </p:spPr>
        <p:txBody>
          <a:bodyPr wrap="square" lIns="0" tIns="0" rIns="0" bIns="0" rtlCol="0" anchor="t">
            <a:spAutoFit/>
          </a:bodyPr>
          <a:lstStyle/>
          <a:p>
            <a:pPr marL="0" indent="0" algn="l">
              <a:buNone/>
            </a:pPr>
            <a:r>
              <a:rPr lang="en-US" sz="650" b="1" kern="0" spc="1" dirty="0">
                <a:solidFill>
                  <a:srgbClr val="7FE0E6"/>
                </a:solidFill>
                <a:latin typeface="Calibri" pitchFamily="34" charset="0"/>
                <a:ea typeface="Inter SemiBold" pitchFamily="34" charset="-122"/>
                <a:cs typeface="Inter SemiBold" pitchFamily="34" charset="-120"/>
              </a:rPr>
              <a:t>REPORTING</a:t>
            </a:r>
            <a:endParaRPr lang="en-US" sz="650" dirty="0"/>
          </a:p>
        </p:txBody>
      </p:sp>
      <p:sp>
        <p:nvSpPr>
          <p:cNvPr id="31" name="Text 27"/>
          <p:cNvSpPr/>
          <p:nvPr/>
        </p:nvSpPr>
        <p:spPr>
          <a:xfrm>
            <a:off x="2443163" y="1931659"/>
            <a:ext cx="3086100" cy="128588"/>
          </a:xfrm>
          <a:prstGeom prst="rect">
            <a:avLst/>
          </a:prstGeom>
          <a:noFill/>
          <a:ln/>
        </p:spPr>
        <p:txBody>
          <a:bodyPr wrap="square" lIns="0" tIns="0" rIns="0" bIns="0" rtlCol="0" anchor="t">
            <a:spAutoFit/>
          </a:bodyPr>
          <a:lstStyle/>
          <a:p>
            <a:pPr marL="0" indent="0" algn="l">
              <a:buNone/>
            </a:pPr>
            <a:r>
              <a:rPr lang="en-US" sz="800" dirty="0">
                <a:solidFill>
                  <a:srgbClr val="E6F7F8"/>
                </a:solidFill>
                <a:latin typeface="Calibri" pitchFamily="34" charset="0"/>
                <a:ea typeface="Inter" pitchFamily="34" charset="-122"/>
                <a:cs typeface="Inter" pitchFamily="34" charset="-120"/>
              </a:rPr>
              <a:t>jsPDF (PDF Generation)</a:t>
            </a:r>
            <a:endParaRPr lang="en-US" sz="800" dirty="0"/>
          </a:p>
        </p:txBody>
      </p:sp>
      <p:sp>
        <p:nvSpPr>
          <p:cNvPr id="32" name="Text 28"/>
          <p:cNvSpPr/>
          <p:nvPr/>
        </p:nvSpPr>
        <p:spPr>
          <a:xfrm>
            <a:off x="2443163" y="2117396"/>
            <a:ext cx="3086100" cy="128588"/>
          </a:xfrm>
          <a:prstGeom prst="rect">
            <a:avLst/>
          </a:prstGeom>
          <a:noFill/>
          <a:ln/>
        </p:spPr>
        <p:txBody>
          <a:bodyPr wrap="square" lIns="0" tIns="0" rIns="0" bIns="0" rtlCol="0" anchor="t">
            <a:spAutoFit/>
          </a:bodyPr>
          <a:lstStyle/>
          <a:p>
            <a:pPr marL="0" indent="0" algn="l">
              <a:buNone/>
            </a:pPr>
            <a:r>
              <a:rPr lang="en-US" sz="800" dirty="0">
                <a:solidFill>
                  <a:srgbClr val="E6F7F8"/>
                </a:solidFill>
                <a:latin typeface="Calibri" pitchFamily="34" charset="0"/>
                <a:ea typeface="Inter" pitchFamily="34" charset="-122"/>
                <a:cs typeface="Inter" pitchFamily="34" charset="-120"/>
              </a:rPr>
              <a:t>CSV Export Engine</a:t>
            </a:r>
            <a:endParaRPr lang="en-US" sz="800" dirty="0"/>
          </a:p>
        </p:txBody>
      </p:sp>
      <p:sp>
        <p:nvSpPr>
          <p:cNvPr id="33" name="Text 29"/>
          <p:cNvSpPr/>
          <p:nvPr/>
        </p:nvSpPr>
        <p:spPr>
          <a:xfrm>
            <a:off x="5643563" y="1735206"/>
            <a:ext cx="3086100" cy="110728"/>
          </a:xfrm>
          <a:prstGeom prst="rect">
            <a:avLst/>
          </a:prstGeom>
          <a:noFill/>
          <a:ln/>
        </p:spPr>
        <p:txBody>
          <a:bodyPr wrap="square" lIns="0" tIns="0" rIns="0" bIns="0" rtlCol="0" anchor="t">
            <a:spAutoFit/>
          </a:bodyPr>
          <a:lstStyle/>
          <a:p>
            <a:pPr marL="0" indent="0" algn="l">
              <a:buNone/>
            </a:pPr>
            <a:r>
              <a:rPr lang="en-US" sz="650" b="1" kern="0" spc="1" dirty="0">
                <a:solidFill>
                  <a:srgbClr val="7FE0E6"/>
                </a:solidFill>
                <a:latin typeface="Calibri" pitchFamily="34" charset="0"/>
                <a:ea typeface="Inter SemiBold" pitchFamily="34" charset="-122"/>
                <a:cs typeface="Inter SemiBold" pitchFamily="34" charset="-120"/>
              </a:rPr>
              <a:t>AI LAYER (PLANNED)</a:t>
            </a:r>
            <a:endParaRPr lang="en-US" sz="650" dirty="0"/>
          </a:p>
        </p:txBody>
      </p:sp>
      <p:sp>
        <p:nvSpPr>
          <p:cNvPr id="34" name="Text 30"/>
          <p:cNvSpPr/>
          <p:nvPr/>
        </p:nvSpPr>
        <p:spPr>
          <a:xfrm>
            <a:off x="5643563" y="1931659"/>
            <a:ext cx="3086100" cy="128588"/>
          </a:xfrm>
          <a:prstGeom prst="rect">
            <a:avLst/>
          </a:prstGeom>
          <a:noFill/>
          <a:ln/>
        </p:spPr>
        <p:txBody>
          <a:bodyPr wrap="square" lIns="0" tIns="0" rIns="0" bIns="0" rtlCol="0" anchor="t">
            <a:spAutoFit/>
          </a:bodyPr>
          <a:lstStyle/>
          <a:p>
            <a:pPr marL="0" indent="0" algn="l">
              <a:buNone/>
            </a:pPr>
            <a:r>
              <a:rPr lang="en-US" sz="800" dirty="0">
                <a:solidFill>
                  <a:srgbClr val="E6F7F8"/>
                </a:solidFill>
                <a:latin typeface="Calibri" pitchFamily="34" charset="0"/>
                <a:ea typeface="Inter" pitchFamily="34" charset="-122"/>
                <a:cs typeface="Inter" pitchFamily="34" charset="-120"/>
              </a:rPr>
              <a:t>IBM watsonx.ai Integration</a:t>
            </a:r>
            <a:endParaRPr lang="en-US" sz="800" dirty="0"/>
          </a:p>
        </p:txBody>
      </p:sp>
      <p:sp>
        <p:nvSpPr>
          <p:cNvPr id="35" name="Text 31"/>
          <p:cNvSpPr/>
          <p:nvPr/>
        </p:nvSpPr>
        <p:spPr>
          <a:xfrm>
            <a:off x="5643563" y="2117396"/>
            <a:ext cx="3086100" cy="128588"/>
          </a:xfrm>
          <a:prstGeom prst="rect">
            <a:avLst/>
          </a:prstGeom>
          <a:noFill/>
          <a:ln/>
        </p:spPr>
        <p:txBody>
          <a:bodyPr wrap="square" lIns="0" tIns="0" rIns="0" bIns="0" rtlCol="0" anchor="t">
            <a:spAutoFit/>
          </a:bodyPr>
          <a:lstStyle/>
          <a:p>
            <a:pPr marL="0" indent="0" algn="l">
              <a:buNone/>
            </a:pPr>
            <a:r>
              <a:rPr lang="en-US" sz="800" dirty="0">
                <a:solidFill>
                  <a:srgbClr val="E6F7F8"/>
                </a:solidFill>
                <a:latin typeface="Calibri" pitchFamily="34" charset="0"/>
                <a:ea typeface="Inter" pitchFamily="34" charset="-122"/>
                <a:cs typeface="Inter" pitchFamily="34" charset="-120"/>
              </a:rPr>
              <a:t>Natural Language Insights</a:t>
            </a:r>
            <a:endParaRPr lang="en-US" sz="800" dirty="0"/>
          </a:p>
        </p:txBody>
      </p:sp>
      <p:sp>
        <p:nvSpPr>
          <p:cNvPr id="36" name="Text 32"/>
          <p:cNvSpPr/>
          <p:nvPr/>
        </p:nvSpPr>
        <p:spPr>
          <a:xfrm>
            <a:off x="8768953" y="4804172"/>
            <a:ext cx="117872" cy="110728"/>
          </a:xfrm>
          <a:prstGeom prst="rect">
            <a:avLst/>
          </a:prstGeom>
          <a:noFill/>
          <a:ln/>
        </p:spPr>
        <p:txBody>
          <a:bodyPr wrap="none" lIns="0" tIns="0" rIns="0" bIns="0" rtlCol="0" anchor="t">
            <a:spAutoFit/>
          </a:bodyPr>
          <a:lstStyle/>
          <a:p>
            <a:pPr marL="0" indent="0" algn="l">
              <a:buNone/>
            </a:pPr>
            <a:r>
              <a:rPr lang="en-US" sz="650" dirty="0">
                <a:solidFill>
                  <a:srgbClr val="0B1E36">
                    <a:alpha val="60000"/>
                  </a:srgbClr>
                </a:solidFill>
                <a:latin typeface="Calibri" pitchFamily="34" charset="0"/>
                <a:ea typeface="Inter" pitchFamily="34" charset="-122"/>
                <a:cs typeface="Inter" pitchFamily="34" charset="-120"/>
              </a:rPr>
              <a:t>04</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0"/>
          <p:cNvSpPr/>
          <p:nvPr/>
        </p:nvSpPr>
        <p:spPr>
          <a:xfrm>
            <a:off x="342900" y="342900"/>
            <a:ext cx="8458200" cy="246221"/>
          </a:xfrm>
          <a:prstGeom prst="rect">
            <a:avLst/>
          </a:prstGeom>
          <a:noFill/>
          <a:ln/>
        </p:spPr>
        <p:txBody>
          <a:bodyPr wrap="square" lIns="0" tIns="0" rIns="0" bIns="0" rtlCol="0" anchor="t">
            <a:spAutoFit/>
          </a:bodyPr>
          <a:lstStyle/>
          <a:p>
            <a:pPr marL="0" indent="0" algn="l">
              <a:buNone/>
            </a:pPr>
            <a:endParaRPr lang="en-US" sz="1600" dirty="0"/>
          </a:p>
        </p:txBody>
      </p:sp>
      <p:sp>
        <p:nvSpPr>
          <p:cNvPr id="9" name="Text 5"/>
          <p:cNvSpPr/>
          <p:nvPr/>
        </p:nvSpPr>
        <p:spPr>
          <a:xfrm>
            <a:off x="964374" y="1603772"/>
            <a:ext cx="64" cy="138499"/>
          </a:xfrm>
          <a:prstGeom prst="rect">
            <a:avLst/>
          </a:prstGeom>
          <a:noFill/>
          <a:ln/>
        </p:spPr>
        <p:txBody>
          <a:bodyPr wrap="none" lIns="0" tIns="0" rIns="0" bIns="0" rtlCol="0" anchor="t">
            <a:spAutoFit/>
          </a:bodyPr>
          <a:lstStyle/>
          <a:p>
            <a:pPr marL="0" indent="0" algn="ctr">
              <a:buNone/>
            </a:pPr>
            <a:endParaRPr lang="en-US" sz="900" dirty="0"/>
          </a:p>
        </p:txBody>
      </p:sp>
      <p:sp>
        <p:nvSpPr>
          <p:cNvPr id="10" name="Text 6"/>
          <p:cNvSpPr/>
          <p:nvPr/>
        </p:nvSpPr>
        <p:spPr>
          <a:xfrm>
            <a:off x="964374" y="1760934"/>
            <a:ext cx="64" cy="76944"/>
          </a:xfrm>
          <a:prstGeom prst="rect">
            <a:avLst/>
          </a:prstGeom>
          <a:noFill/>
          <a:ln/>
        </p:spPr>
        <p:txBody>
          <a:bodyPr wrap="none" lIns="0" tIns="0" rIns="0" bIns="0" rtlCol="0" anchor="t">
            <a:spAutoFit/>
          </a:bodyPr>
          <a:lstStyle/>
          <a:p>
            <a:pPr marL="0" indent="0" algn="ctr">
              <a:buNone/>
            </a:pPr>
            <a:endParaRPr lang="en-US" sz="500" dirty="0"/>
          </a:p>
        </p:txBody>
      </p:sp>
      <p:sp>
        <p:nvSpPr>
          <p:cNvPr id="12" name="Text 8"/>
          <p:cNvSpPr/>
          <p:nvPr/>
        </p:nvSpPr>
        <p:spPr>
          <a:xfrm>
            <a:off x="1921636" y="1603772"/>
            <a:ext cx="65" cy="138499"/>
          </a:xfrm>
          <a:prstGeom prst="rect">
            <a:avLst/>
          </a:prstGeom>
          <a:noFill/>
          <a:ln/>
        </p:spPr>
        <p:txBody>
          <a:bodyPr wrap="none" lIns="0" tIns="0" rIns="0" bIns="0" rtlCol="0" anchor="t">
            <a:spAutoFit/>
          </a:bodyPr>
          <a:lstStyle/>
          <a:p>
            <a:pPr marL="0" indent="0" algn="ctr">
              <a:buNone/>
            </a:pPr>
            <a:endParaRPr lang="en-US" sz="900" dirty="0"/>
          </a:p>
        </p:txBody>
      </p:sp>
      <p:sp>
        <p:nvSpPr>
          <p:cNvPr id="13" name="Text 9"/>
          <p:cNvSpPr/>
          <p:nvPr/>
        </p:nvSpPr>
        <p:spPr>
          <a:xfrm>
            <a:off x="1921637" y="1760934"/>
            <a:ext cx="64" cy="76944"/>
          </a:xfrm>
          <a:prstGeom prst="rect">
            <a:avLst/>
          </a:prstGeom>
          <a:noFill/>
          <a:ln/>
        </p:spPr>
        <p:txBody>
          <a:bodyPr wrap="none" lIns="0" tIns="0" rIns="0" bIns="0" rtlCol="0" anchor="t">
            <a:spAutoFit/>
          </a:bodyPr>
          <a:lstStyle/>
          <a:p>
            <a:pPr marL="0" indent="0" algn="ctr">
              <a:buNone/>
            </a:pPr>
            <a:endParaRPr lang="en-US" sz="500" dirty="0"/>
          </a:p>
        </p:txBody>
      </p:sp>
      <p:sp>
        <p:nvSpPr>
          <p:cNvPr id="15" name="Text 11"/>
          <p:cNvSpPr/>
          <p:nvPr/>
        </p:nvSpPr>
        <p:spPr>
          <a:xfrm>
            <a:off x="2878898" y="1603772"/>
            <a:ext cx="65" cy="138499"/>
          </a:xfrm>
          <a:prstGeom prst="rect">
            <a:avLst/>
          </a:prstGeom>
          <a:noFill/>
          <a:ln/>
        </p:spPr>
        <p:txBody>
          <a:bodyPr wrap="none" lIns="0" tIns="0" rIns="0" bIns="0" rtlCol="0" anchor="t">
            <a:spAutoFit/>
          </a:bodyPr>
          <a:lstStyle/>
          <a:p>
            <a:pPr marL="0" indent="0" algn="ctr">
              <a:buNone/>
            </a:pPr>
            <a:endParaRPr lang="en-US" sz="900" dirty="0"/>
          </a:p>
        </p:txBody>
      </p:sp>
      <p:sp>
        <p:nvSpPr>
          <p:cNvPr id="18" name="Text 14"/>
          <p:cNvSpPr/>
          <p:nvPr/>
        </p:nvSpPr>
        <p:spPr>
          <a:xfrm>
            <a:off x="3836161" y="1603772"/>
            <a:ext cx="65" cy="138499"/>
          </a:xfrm>
          <a:prstGeom prst="rect">
            <a:avLst/>
          </a:prstGeom>
          <a:noFill/>
          <a:ln/>
        </p:spPr>
        <p:txBody>
          <a:bodyPr wrap="none" lIns="0" tIns="0" rIns="0" bIns="0" rtlCol="0" anchor="t">
            <a:spAutoFit/>
          </a:bodyPr>
          <a:lstStyle/>
          <a:p>
            <a:pPr marL="0" indent="0" algn="ctr">
              <a:buNone/>
            </a:pPr>
            <a:endParaRPr lang="en-US" sz="900" dirty="0"/>
          </a:p>
        </p:txBody>
      </p:sp>
      <p:sp>
        <p:nvSpPr>
          <p:cNvPr id="22" name="Text 18"/>
          <p:cNvSpPr/>
          <p:nvPr/>
        </p:nvSpPr>
        <p:spPr>
          <a:xfrm>
            <a:off x="514350" y="2046684"/>
            <a:ext cx="782687" cy="207169"/>
          </a:xfrm>
          <a:prstGeom prst="rect">
            <a:avLst/>
          </a:prstGeom>
          <a:noFill/>
          <a:ln/>
        </p:spPr>
        <p:txBody>
          <a:bodyPr wrap="none" lIns="68072" tIns="68072" rIns="68072" bIns="68072" rtlCol="0" anchor="ctr">
            <a:spAutoFit/>
          </a:bodyPr>
          <a:lstStyle/>
          <a:p>
            <a:pPr marL="0" indent="0" algn="l">
              <a:buNone/>
            </a:pPr>
            <a:r>
              <a:rPr lang="en-US" sz="550" b="1" dirty="0">
                <a:solidFill>
                  <a:srgbClr val="FFFFFF"/>
                </a:solidFill>
                <a:latin typeface="Calibri" pitchFamily="34" charset="0"/>
                <a:ea typeface="Inter SemiBold" pitchFamily="34" charset="-122"/>
                <a:cs typeface="Inter SemiBold" pitchFamily="34" charset="-120"/>
              </a:rPr>
              <a:t>Drug</a:t>
            </a:r>
            <a:endParaRPr lang="en-US" sz="550" dirty="0"/>
          </a:p>
        </p:txBody>
      </p:sp>
      <p:sp>
        <p:nvSpPr>
          <p:cNvPr id="24" name="Text 20"/>
          <p:cNvSpPr/>
          <p:nvPr/>
        </p:nvSpPr>
        <p:spPr>
          <a:xfrm>
            <a:off x="1297037" y="2046684"/>
            <a:ext cx="827391" cy="207169"/>
          </a:xfrm>
          <a:prstGeom prst="rect">
            <a:avLst/>
          </a:prstGeom>
          <a:noFill/>
          <a:ln/>
        </p:spPr>
        <p:txBody>
          <a:bodyPr wrap="none" lIns="68072" tIns="68072" rIns="68072" bIns="68072" rtlCol="0" anchor="ctr">
            <a:spAutoFit/>
          </a:bodyPr>
          <a:lstStyle/>
          <a:p>
            <a:pPr marL="0" indent="0" algn="l">
              <a:buNone/>
            </a:pPr>
            <a:r>
              <a:rPr lang="en-US" sz="550" b="1" dirty="0">
                <a:solidFill>
                  <a:srgbClr val="FFFFFF"/>
                </a:solidFill>
                <a:latin typeface="Calibri" pitchFamily="34" charset="0"/>
                <a:ea typeface="Inter SemiBold" pitchFamily="34" charset="-122"/>
                <a:cs typeface="Inter SemiBold" pitchFamily="34" charset="-120"/>
              </a:rPr>
              <a:t>Event</a:t>
            </a:r>
            <a:endParaRPr lang="en-US" sz="550" dirty="0"/>
          </a:p>
        </p:txBody>
      </p:sp>
      <p:sp>
        <p:nvSpPr>
          <p:cNvPr id="26" name="Text 22"/>
          <p:cNvSpPr/>
          <p:nvPr/>
        </p:nvSpPr>
        <p:spPr>
          <a:xfrm>
            <a:off x="2124428" y="2046684"/>
            <a:ext cx="551576" cy="207169"/>
          </a:xfrm>
          <a:prstGeom prst="rect">
            <a:avLst/>
          </a:prstGeom>
          <a:noFill/>
          <a:ln/>
        </p:spPr>
        <p:txBody>
          <a:bodyPr wrap="none" lIns="68072" tIns="68072" rIns="68072" bIns="68072" rtlCol="0" anchor="ctr">
            <a:spAutoFit/>
          </a:bodyPr>
          <a:lstStyle/>
          <a:p>
            <a:pPr marL="0" indent="0" algn="l">
              <a:buNone/>
            </a:pPr>
            <a:r>
              <a:rPr lang="en-US" sz="550" b="1" dirty="0">
                <a:solidFill>
                  <a:srgbClr val="FFFFFF"/>
                </a:solidFill>
                <a:latin typeface="Calibri" pitchFamily="34" charset="0"/>
                <a:ea typeface="Inter SemiBold" pitchFamily="34" charset="-122"/>
                <a:cs typeface="Inter SemiBold" pitchFamily="34" charset="-120"/>
              </a:rPr>
              <a:t>PRR</a:t>
            </a:r>
            <a:endParaRPr lang="en-US" sz="550" dirty="0"/>
          </a:p>
        </p:txBody>
      </p:sp>
      <p:sp>
        <p:nvSpPr>
          <p:cNvPr id="28" name="Text 24"/>
          <p:cNvSpPr/>
          <p:nvPr/>
        </p:nvSpPr>
        <p:spPr>
          <a:xfrm>
            <a:off x="2676004" y="2046684"/>
            <a:ext cx="901954" cy="207169"/>
          </a:xfrm>
          <a:prstGeom prst="rect">
            <a:avLst/>
          </a:prstGeom>
          <a:noFill/>
          <a:ln/>
        </p:spPr>
        <p:txBody>
          <a:bodyPr wrap="none" lIns="68072" tIns="68072" rIns="68072" bIns="68072" rtlCol="0" anchor="ctr">
            <a:spAutoFit/>
          </a:bodyPr>
          <a:lstStyle/>
          <a:p>
            <a:pPr marL="0" indent="0" algn="l">
              <a:buNone/>
            </a:pPr>
            <a:r>
              <a:rPr lang="en-US" sz="550" b="1" dirty="0">
                <a:solidFill>
                  <a:srgbClr val="FFFFFF"/>
                </a:solidFill>
                <a:latin typeface="Calibri" pitchFamily="34" charset="0"/>
                <a:ea typeface="Inter SemiBold" pitchFamily="34" charset="-122"/>
                <a:cs typeface="Inter SemiBold" pitchFamily="34" charset="-120"/>
              </a:rPr>
              <a:t>Severity</a:t>
            </a:r>
            <a:endParaRPr lang="en-US" sz="550" dirty="0"/>
          </a:p>
        </p:txBody>
      </p:sp>
      <p:sp>
        <p:nvSpPr>
          <p:cNvPr id="30" name="Text 26"/>
          <p:cNvSpPr/>
          <p:nvPr/>
        </p:nvSpPr>
        <p:spPr>
          <a:xfrm>
            <a:off x="3577958" y="2039213"/>
            <a:ext cx="137538" cy="222112"/>
          </a:xfrm>
          <a:prstGeom prst="rect">
            <a:avLst/>
          </a:prstGeom>
          <a:noFill/>
          <a:ln/>
        </p:spPr>
        <p:txBody>
          <a:bodyPr wrap="none" lIns="68072" tIns="68072" rIns="68072" bIns="68072" rtlCol="0" anchor="ctr">
            <a:spAutoFit/>
          </a:bodyPr>
          <a:lstStyle/>
          <a:p>
            <a:pPr marL="0" indent="0" algn="l">
              <a:buNone/>
            </a:pPr>
            <a:endParaRPr lang="en-US" sz="550" dirty="0"/>
          </a:p>
        </p:txBody>
      </p:sp>
      <p:sp>
        <p:nvSpPr>
          <p:cNvPr id="31" name="Text 27"/>
          <p:cNvSpPr/>
          <p:nvPr/>
        </p:nvSpPr>
        <p:spPr>
          <a:xfrm>
            <a:off x="514350" y="2248168"/>
            <a:ext cx="137538" cy="222112"/>
          </a:xfrm>
          <a:prstGeom prst="rect">
            <a:avLst/>
          </a:prstGeom>
          <a:noFill/>
          <a:ln/>
        </p:spPr>
        <p:txBody>
          <a:bodyPr wrap="none" lIns="68072" tIns="68072" rIns="68072" bIns="68072" rtlCol="0" anchor="ctr">
            <a:spAutoFit/>
          </a:bodyPr>
          <a:lstStyle/>
          <a:p>
            <a:pPr marL="0" indent="0" algn="l">
              <a:buNone/>
            </a:pPr>
            <a:endParaRPr lang="en-US" sz="550" dirty="0"/>
          </a:p>
        </p:txBody>
      </p:sp>
      <p:sp>
        <p:nvSpPr>
          <p:cNvPr id="32" name="Text 28"/>
          <p:cNvSpPr/>
          <p:nvPr/>
        </p:nvSpPr>
        <p:spPr>
          <a:xfrm>
            <a:off x="1297037" y="2248168"/>
            <a:ext cx="137538" cy="222112"/>
          </a:xfrm>
          <a:prstGeom prst="rect">
            <a:avLst/>
          </a:prstGeom>
          <a:noFill/>
          <a:ln/>
        </p:spPr>
        <p:txBody>
          <a:bodyPr wrap="none" lIns="68072" tIns="68072" rIns="68072" bIns="68072" rtlCol="0" anchor="ctr">
            <a:spAutoFit/>
          </a:bodyPr>
          <a:lstStyle/>
          <a:p>
            <a:pPr marL="0" indent="0" algn="l">
              <a:buNone/>
            </a:pPr>
            <a:endParaRPr lang="en-US" sz="550" dirty="0"/>
          </a:p>
        </p:txBody>
      </p:sp>
      <p:sp>
        <p:nvSpPr>
          <p:cNvPr id="36" name="Text 32"/>
          <p:cNvSpPr/>
          <p:nvPr/>
        </p:nvSpPr>
        <p:spPr>
          <a:xfrm>
            <a:off x="3577958" y="2248168"/>
            <a:ext cx="137538" cy="222112"/>
          </a:xfrm>
          <a:prstGeom prst="rect">
            <a:avLst/>
          </a:prstGeom>
          <a:noFill/>
          <a:ln/>
        </p:spPr>
        <p:txBody>
          <a:bodyPr wrap="none" lIns="68072" tIns="68072" rIns="68072" bIns="68072" rtlCol="0" anchor="ctr">
            <a:spAutoFit/>
          </a:bodyPr>
          <a:lstStyle/>
          <a:p>
            <a:pPr marL="0" indent="0" algn="l">
              <a:buNone/>
            </a:pPr>
            <a:endParaRPr lang="en-US" sz="550" dirty="0"/>
          </a:p>
        </p:txBody>
      </p:sp>
      <p:sp>
        <p:nvSpPr>
          <p:cNvPr id="38" name="Text 34"/>
          <p:cNvSpPr/>
          <p:nvPr/>
        </p:nvSpPr>
        <p:spPr>
          <a:xfrm>
            <a:off x="1297037" y="2462480"/>
            <a:ext cx="137538" cy="222112"/>
          </a:xfrm>
          <a:prstGeom prst="rect">
            <a:avLst/>
          </a:prstGeom>
          <a:noFill/>
          <a:ln/>
        </p:spPr>
        <p:txBody>
          <a:bodyPr wrap="none" lIns="68072" tIns="68072" rIns="68072" bIns="68072" rtlCol="0" anchor="ctr">
            <a:spAutoFit/>
          </a:bodyPr>
          <a:lstStyle/>
          <a:p>
            <a:pPr marL="0" indent="0" algn="l">
              <a:buNone/>
            </a:pPr>
            <a:endParaRPr lang="en-US" sz="550" dirty="0"/>
          </a:p>
        </p:txBody>
      </p:sp>
      <p:sp>
        <p:nvSpPr>
          <p:cNvPr id="39" name="Text 35"/>
          <p:cNvSpPr/>
          <p:nvPr/>
        </p:nvSpPr>
        <p:spPr>
          <a:xfrm>
            <a:off x="2124428" y="2462480"/>
            <a:ext cx="137538" cy="222112"/>
          </a:xfrm>
          <a:prstGeom prst="rect">
            <a:avLst/>
          </a:prstGeom>
          <a:noFill/>
          <a:ln/>
        </p:spPr>
        <p:txBody>
          <a:bodyPr wrap="none" lIns="68072" tIns="68072" rIns="68072" bIns="68072" rtlCol="0" anchor="ctr">
            <a:spAutoFit/>
          </a:bodyPr>
          <a:lstStyle/>
          <a:p>
            <a:pPr marL="0" indent="0" algn="l">
              <a:buNone/>
            </a:pPr>
            <a:endParaRPr lang="en-US" sz="550" dirty="0"/>
          </a:p>
        </p:txBody>
      </p:sp>
      <p:sp>
        <p:nvSpPr>
          <p:cNvPr id="41" name="Text 37"/>
          <p:cNvSpPr/>
          <p:nvPr/>
        </p:nvSpPr>
        <p:spPr>
          <a:xfrm>
            <a:off x="2733154" y="2527102"/>
            <a:ext cx="232172" cy="103584"/>
          </a:xfrm>
          <a:prstGeom prst="rect">
            <a:avLst/>
          </a:prstGeom>
          <a:noFill/>
          <a:ln/>
        </p:spPr>
        <p:txBody>
          <a:bodyPr wrap="none" lIns="51054" tIns="17018" rIns="51054" bIns="17018" rtlCol="0" anchor="t">
            <a:spAutoFit/>
          </a:bodyPr>
          <a:lstStyle/>
          <a:p>
            <a:pPr marL="0" indent="0" algn="l">
              <a:buNone/>
            </a:pPr>
            <a:r>
              <a:rPr lang="en-US" sz="450" b="1" dirty="0">
                <a:solidFill>
                  <a:srgbClr val="FFFFFF"/>
                </a:solidFill>
                <a:latin typeface="Calibri" pitchFamily="34" charset="0"/>
                <a:ea typeface="Inter SemiBold" pitchFamily="34" charset="-122"/>
                <a:cs typeface="Inter SemiBold" pitchFamily="34" charset="-120"/>
              </a:rPr>
              <a:t>MED</a:t>
            </a:r>
            <a:endParaRPr lang="en-US" sz="450" dirty="0"/>
          </a:p>
        </p:txBody>
      </p:sp>
      <p:sp>
        <p:nvSpPr>
          <p:cNvPr id="42" name="Text 38"/>
          <p:cNvSpPr/>
          <p:nvPr/>
        </p:nvSpPr>
        <p:spPr>
          <a:xfrm>
            <a:off x="3577958" y="2462480"/>
            <a:ext cx="137538" cy="222112"/>
          </a:xfrm>
          <a:prstGeom prst="rect">
            <a:avLst/>
          </a:prstGeom>
          <a:noFill/>
          <a:ln/>
        </p:spPr>
        <p:txBody>
          <a:bodyPr wrap="none" lIns="68072" tIns="68072" rIns="68072" bIns="68072" rtlCol="0" anchor="ctr">
            <a:spAutoFit/>
          </a:bodyPr>
          <a:lstStyle/>
          <a:p>
            <a:pPr marL="0" indent="0" algn="l">
              <a:buNone/>
            </a:pPr>
            <a:endParaRPr lang="en-US" sz="550" dirty="0"/>
          </a:p>
        </p:txBody>
      </p:sp>
      <p:sp>
        <p:nvSpPr>
          <p:cNvPr id="44" name="Text 40"/>
          <p:cNvSpPr/>
          <p:nvPr/>
        </p:nvSpPr>
        <p:spPr>
          <a:xfrm>
            <a:off x="1297037" y="2678579"/>
            <a:ext cx="137538" cy="222112"/>
          </a:xfrm>
          <a:prstGeom prst="rect">
            <a:avLst/>
          </a:prstGeom>
          <a:noFill/>
          <a:ln/>
        </p:spPr>
        <p:txBody>
          <a:bodyPr wrap="none" lIns="68072" tIns="68072" rIns="68072" bIns="68072" rtlCol="0" anchor="ctr">
            <a:spAutoFit/>
          </a:bodyPr>
          <a:lstStyle/>
          <a:p>
            <a:pPr marL="0" indent="0" algn="l">
              <a:buNone/>
            </a:pPr>
            <a:endParaRPr lang="en-US" sz="550" dirty="0"/>
          </a:p>
        </p:txBody>
      </p:sp>
      <p:sp>
        <p:nvSpPr>
          <p:cNvPr id="47" name="Text 43"/>
          <p:cNvSpPr/>
          <p:nvPr/>
        </p:nvSpPr>
        <p:spPr>
          <a:xfrm>
            <a:off x="2733154" y="2743200"/>
            <a:ext cx="242888" cy="103584"/>
          </a:xfrm>
          <a:prstGeom prst="rect">
            <a:avLst/>
          </a:prstGeom>
          <a:noFill/>
          <a:ln/>
        </p:spPr>
        <p:txBody>
          <a:bodyPr wrap="none" lIns="51054" tIns="17018" rIns="51054" bIns="17018" rtlCol="0" anchor="t">
            <a:spAutoFit/>
          </a:bodyPr>
          <a:lstStyle/>
          <a:p>
            <a:pPr marL="0" indent="0" algn="l">
              <a:buNone/>
            </a:pPr>
            <a:r>
              <a:rPr lang="en-US" sz="450" b="1" dirty="0">
                <a:solidFill>
                  <a:srgbClr val="FFFFFF"/>
                </a:solidFill>
                <a:latin typeface="Calibri" pitchFamily="34" charset="0"/>
                <a:ea typeface="Inter SemiBold" pitchFamily="34" charset="-122"/>
                <a:cs typeface="Inter SemiBold" pitchFamily="34" charset="-120"/>
              </a:rPr>
              <a:t>HIGH</a:t>
            </a:r>
            <a:endParaRPr lang="en-US" sz="450" dirty="0"/>
          </a:p>
        </p:txBody>
      </p:sp>
      <p:sp>
        <p:nvSpPr>
          <p:cNvPr id="50" name="Text 46"/>
          <p:cNvSpPr/>
          <p:nvPr/>
        </p:nvSpPr>
        <p:spPr>
          <a:xfrm>
            <a:off x="4857750" y="1218009"/>
            <a:ext cx="3771900" cy="176459"/>
          </a:xfrm>
          <a:prstGeom prst="rect">
            <a:avLst/>
          </a:prstGeom>
          <a:noFill/>
          <a:ln/>
        </p:spPr>
        <p:txBody>
          <a:bodyPr wrap="square" lIns="0" tIns="0" rIns="0" bIns="68072" rtlCol="0" anchor="t">
            <a:spAutoFit/>
          </a:bodyPr>
          <a:lstStyle/>
          <a:p>
            <a:pPr marL="0" indent="0" algn="l">
              <a:buNone/>
            </a:pPr>
            <a:endParaRPr lang="en-US" sz="700" dirty="0"/>
          </a:p>
        </p:txBody>
      </p:sp>
      <p:sp>
        <p:nvSpPr>
          <p:cNvPr id="66" name="Text 62"/>
          <p:cNvSpPr/>
          <p:nvPr/>
        </p:nvSpPr>
        <p:spPr>
          <a:xfrm>
            <a:off x="8676084" y="4679156"/>
            <a:ext cx="125016" cy="121444"/>
          </a:xfrm>
          <a:prstGeom prst="rect">
            <a:avLst/>
          </a:prstGeom>
          <a:noFill/>
          <a:ln/>
        </p:spPr>
        <p:txBody>
          <a:bodyPr wrap="none" lIns="0" tIns="0" rIns="0" bIns="0" rtlCol="0" anchor="t">
            <a:spAutoFit/>
          </a:bodyPr>
          <a:lstStyle/>
          <a:p>
            <a:pPr marL="0" indent="0" algn="l">
              <a:buNone/>
            </a:pPr>
            <a:r>
              <a:rPr lang="en-US" sz="750" dirty="0">
                <a:solidFill>
                  <a:srgbClr val="0B1E36">
                    <a:alpha val="50000"/>
                  </a:srgbClr>
                </a:solidFill>
                <a:latin typeface="Calibri" pitchFamily="34" charset="0"/>
                <a:ea typeface="Inter" pitchFamily="34" charset="-122"/>
                <a:cs typeface="Inter" pitchFamily="34" charset="-120"/>
              </a:rPr>
              <a:t>05</a:t>
            </a:r>
            <a:endParaRPr lang="en-US" sz="750" dirty="0"/>
          </a:p>
        </p:txBody>
      </p:sp>
      <p:sp>
        <p:nvSpPr>
          <p:cNvPr id="68" name="TextBox 67">
            <a:extLst>
              <a:ext uri="{FF2B5EF4-FFF2-40B4-BE49-F238E27FC236}">
                <a16:creationId xmlns:a16="http://schemas.microsoft.com/office/drawing/2014/main" id="{52591956-1710-EF53-F097-6AF4D188D2CB}"/>
              </a:ext>
            </a:extLst>
          </p:cNvPr>
          <p:cNvSpPr txBox="1"/>
          <p:nvPr/>
        </p:nvSpPr>
        <p:spPr>
          <a:xfrm>
            <a:off x="0" y="36999"/>
            <a:ext cx="4572000" cy="338554"/>
          </a:xfrm>
          <a:prstGeom prst="rect">
            <a:avLst/>
          </a:prstGeom>
          <a:noFill/>
        </p:spPr>
        <p:txBody>
          <a:bodyPr wrap="square">
            <a:spAutoFit/>
          </a:bodyPr>
          <a:lstStyle/>
          <a:p>
            <a:pPr marL="0" indent="0" algn="l">
              <a:buNone/>
            </a:pPr>
            <a:r>
              <a:rPr lang="en-US" sz="1600" b="1" dirty="0">
                <a:solidFill>
                  <a:srgbClr val="0B1E36"/>
                </a:solidFill>
                <a:latin typeface="Calibri" pitchFamily="34" charset="0"/>
                <a:ea typeface="Inter SemiBold" pitchFamily="34" charset="-122"/>
                <a:cs typeface="Inter SemiBold" pitchFamily="34" charset="-120"/>
              </a:rPr>
              <a:t>Demo / Key Feature</a:t>
            </a:r>
            <a:endParaRPr lang="en-US" sz="1600" dirty="0"/>
          </a:p>
        </p:txBody>
      </p:sp>
      <p:pic>
        <p:nvPicPr>
          <p:cNvPr id="70" name="Picture 69">
            <a:extLst>
              <a:ext uri="{FF2B5EF4-FFF2-40B4-BE49-F238E27FC236}">
                <a16:creationId xmlns:a16="http://schemas.microsoft.com/office/drawing/2014/main" id="{B917039D-E6B3-13BF-A081-A33A774842CE}"/>
              </a:ext>
            </a:extLst>
          </p:cNvPr>
          <p:cNvPicPr>
            <a:picLocks noChangeAspect="1"/>
          </p:cNvPicPr>
          <p:nvPr/>
        </p:nvPicPr>
        <p:blipFill>
          <a:blip r:embed="rId3"/>
          <a:stretch>
            <a:fillRect/>
          </a:stretch>
        </p:blipFill>
        <p:spPr>
          <a:xfrm>
            <a:off x="85085" y="439080"/>
            <a:ext cx="4121156" cy="2195058"/>
          </a:xfrm>
          <a:prstGeom prst="rect">
            <a:avLst/>
          </a:prstGeom>
        </p:spPr>
      </p:pic>
      <p:pic>
        <p:nvPicPr>
          <p:cNvPr id="72" name="Picture 71">
            <a:extLst>
              <a:ext uri="{FF2B5EF4-FFF2-40B4-BE49-F238E27FC236}">
                <a16:creationId xmlns:a16="http://schemas.microsoft.com/office/drawing/2014/main" id="{4D1C2932-DA46-57BD-6446-1365AD9A5435}"/>
              </a:ext>
            </a:extLst>
          </p:cNvPr>
          <p:cNvPicPr>
            <a:picLocks noChangeAspect="1"/>
          </p:cNvPicPr>
          <p:nvPr/>
        </p:nvPicPr>
        <p:blipFill>
          <a:blip r:embed="rId4"/>
          <a:stretch>
            <a:fillRect/>
          </a:stretch>
        </p:blipFill>
        <p:spPr>
          <a:xfrm>
            <a:off x="4491776" y="457301"/>
            <a:ext cx="4137874" cy="2194166"/>
          </a:xfrm>
          <a:prstGeom prst="rect">
            <a:avLst/>
          </a:prstGeom>
        </p:spPr>
      </p:pic>
      <p:pic>
        <p:nvPicPr>
          <p:cNvPr id="74" name="Picture 73">
            <a:extLst>
              <a:ext uri="{FF2B5EF4-FFF2-40B4-BE49-F238E27FC236}">
                <a16:creationId xmlns:a16="http://schemas.microsoft.com/office/drawing/2014/main" id="{2AFF4DCE-688B-3E85-D811-352DE04A9460}"/>
              </a:ext>
            </a:extLst>
          </p:cNvPr>
          <p:cNvPicPr>
            <a:picLocks noChangeAspect="1"/>
          </p:cNvPicPr>
          <p:nvPr/>
        </p:nvPicPr>
        <p:blipFill>
          <a:blip r:embed="rId5"/>
          <a:stretch>
            <a:fillRect/>
          </a:stretch>
        </p:blipFill>
        <p:spPr>
          <a:xfrm>
            <a:off x="85085" y="2789635"/>
            <a:ext cx="4137874" cy="2163038"/>
          </a:xfrm>
          <a:prstGeom prst="rect">
            <a:avLst/>
          </a:prstGeom>
        </p:spPr>
      </p:pic>
      <p:pic>
        <p:nvPicPr>
          <p:cNvPr id="76" name="Picture 75">
            <a:extLst>
              <a:ext uri="{FF2B5EF4-FFF2-40B4-BE49-F238E27FC236}">
                <a16:creationId xmlns:a16="http://schemas.microsoft.com/office/drawing/2014/main" id="{009CD6AC-3C05-5E31-1694-20D25187FF84}"/>
              </a:ext>
            </a:extLst>
          </p:cNvPr>
          <p:cNvPicPr>
            <a:picLocks noChangeAspect="1"/>
          </p:cNvPicPr>
          <p:nvPr/>
        </p:nvPicPr>
        <p:blipFill>
          <a:blip r:embed="rId6"/>
          <a:stretch>
            <a:fillRect/>
          </a:stretch>
        </p:blipFill>
        <p:spPr>
          <a:xfrm>
            <a:off x="4510491" y="2846784"/>
            <a:ext cx="4165593" cy="21277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200025" y="200025"/>
            <a:ext cx="8743950" cy="200025"/>
          </a:xfrm>
          <a:prstGeom prst="rect">
            <a:avLst/>
          </a:prstGeom>
          <a:noFill/>
          <a:ln/>
        </p:spPr>
        <p:txBody>
          <a:bodyPr wrap="none" lIns="0" tIns="0" rIns="0" bIns="0" rtlCol="0" anchor="t">
            <a:spAutoFit/>
          </a:bodyPr>
          <a:lstStyle/>
          <a:p>
            <a:pPr marL="0" indent="0" algn="l">
              <a:lnSpc>
                <a:spcPct val="80000"/>
              </a:lnSpc>
              <a:buNone/>
            </a:pPr>
            <a:r>
              <a:rPr lang="en-US" sz="1400" b="1" dirty="0">
                <a:solidFill>
                  <a:srgbClr val="0B1E36"/>
                </a:solidFill>
                <a:latin typeface="Calibri" pitchFamily="34" charset="0"/>
                <a:ea typeface="Space Grotesk Bold" pitchFamily="34" charset="-122"/>
                <a:cs typeface="Space Grotesk Bold" pitchFamily="34" charset="-120"/>
              </a:rPr>
              <a:t>IBM Technologies</a:t>
            </a:r>
            <a:endParaRPr lang="en-US" sz="1400" dirty="0"/>
          </a:p>
        </p:txBody>
      </p:sp>
      <p:sp>
        <p:nvSpPr>
          <p:cNvPr id="5" name="Text 1"/>
          <p:cNvSpPr/>
          <p:nvPr/>
        </p:nvSpPr>
        <p:spPr>
          <a:xfrm>
            <a:off x="200025" y="442913"/>
            <a:ext cx="8743950" cy="128588"/>
          </a:xfrm>
          <a:prstGeom prst="rect">
            <a:avLst/>
          </a:prstGeom>
          <a:noFill/>
          <a:ln/>
        </p:spPr>
        <p:txBody>
          <a:bodyPr wrap="none" lIns="0" tIns="0" rIns="0" bIns="0" rtlCol="0" anchor="t">
            <a:spAutoFit/>
          </a:bodyPr>
          <a:lstStyle/>
          <a:p>
            <a:pPr marL="0" indent="0" algn="l">
              <a:lnSpc>
                <a:spcPct val="96000"/>
              </a:lnSpc>
              <a:buNone/>
            </a:pPr>
            <a:r>
              <a:rPr lang="en-US" sz="800" dirty="0">
                <a:solidFill>
                  <a:srgbClr val="4A5568"/>
                </a:solidFill>
                <a:latin typeface="Calibri" pitchFamily="34" charset="0"/>
                <a:ea typeface="Inter" pitchFamily="34" charset="-122"/>
                <a:cs typeface="Inter" pitchFamily="34" charset="-120"/>
              </a:rPr>
              <a:t>Current implementation boundary and planned IBM AI contribution</a:t>
            </a:r>
            <a:endParaRPr lang="en-US" sz="800" dirty="0"/>
          </a:p>
        </p:txBody>
      </p:sp>
      <p:sp>
        <p:nvSpPr>
          <p:cNvPr id="6" name="Shape 2"/>
          <p:cNvSpPr/>
          <p:nvPr/>
        </p:nvSpPr>
        <p:spPr>
          <a:xfrm>
            <a:off x="200025" y="685800"/>
            <a:ext cx="4321969" cy="1278731"/>
          </a:xfrm>
          <a:prstGeom prst="rect">
            <a:avLst/>
          </a:prstGeom>
          <a:solidFill>
            <a:srgbClr val="F8F9FA"/>
          </a:solidFill>
          <a:ln w="9144">
            <a:solidFill>
              <a:srgbClr val="E2E8F0"/>
            </a:solidFill>
            <a:prstDash val="solid"/>
          </a:ln>
        </p:spPr>
        <p:txBody>
          <a:bodyPr/>
          <a:lstStyle/>
          <a:p>
            <a:endParaRPr/>
          </a:p>
        </p:txBody>
      </p:sp>
      <p:sp>
        <p:nvSpPr>
          <p:cNvPr id="7" name="Text 3"/>
          <p:cNvSpPr/>
          <p:nvPr/>
        </p:nvSpPr>
        <p:spPr>
          <a:xfrm>
            <a:off x="300038" y="785813"/>
            <a:ext cx="4121944" cy="139303"/>
          </a:xfrm>
          <a:prstGeom prst="rect">
            <a:avLst/>
          </a:prstGeom>
          <a:noFill/>
          <a:ln/>
        </p:spPr>
        <p:txBody>
          <a:bodyPr wrap="square" lIns="0" tIns="0" rIns="0" bIns="0" rtlCol="0" anchor="t">
            <a:spAutoFit/>
          </a:bodyPr>
          <a:lstStyle/>
          <a:p>
            <a:pPr marL="0" indent="0" algn="l">
              <a:buNone/>
            </a:pPr>
            <a:r>
              <a:rPr lang="en-US" sz="800" b="1" dirty="0">
                <a:solidFill>
                  <a:srgbClr val="007A86"/>
                </a:solidFill>
                <a:latin typeface="Calibri" pitchFamily="34" charset="0"/>
                <a:ea typeface="Inter SemiBold" pitchFamily="34" charset="-122"/>
                <a:cs typeface="Inter SemiBold" pitchFamily="34" charset="-120"/>
              </a:rPr>
              <a:t>Implemented in the supplied prototype</a:t>
            </a:r>
            <a:endParaRPr lang="en-US" sz="800" dirty="0"/>
          </a:p>
        </p:txBody>
      </p:sp>
      <p:sp>
        <p:nvSpPr>
          <p:cNvPr id="8" name="Text 4"/>
          <p:cNvSpPr/>
          <p:nvPr/>
        </p:nvSpPr>
        <p:spPr>
          <a:xfrm>
            <a:off x="300038" y="996553"/>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JavaScript (ES6+) application logic</a:t>
            </a:r>
            <a:endParaRPr lang="en-US" sz="750" dirty="0"/>
          </a:p>
        </p:txBody>
      </p:sp>
      <p:sp>
        <p:nvSpPr>
          <p:cNvPr id="9" name="Text 5"/>
          <p:cNvSpPr/>
          <p:nvPr/>
        </p:nvSpPr>
        <p:spPr>
          <a:xfrm>
            <a:off x="300038" y="1178719"/>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HTML5 / CSS3 interface</a:t>
            </a:r>
            <a:endParaRPr lang="en-US" sz="750" dirty="0"/>
          </a:p>
        </p:txBody>
      </p:sp>
      <p:sp>
        <p:nvSpPr>
          <p:cNvPr id="10" name="Text 6"/>
          <p:cNvSpPr/>
          <p:nvPr/>
        </p:nvSpPr>
        <p:spPr>
          <a:xfrm>
            <a:off x="300038" y="1360884"/>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PapaParse for CSV parsing</a:t>
            </a:r>
            <a:endParaRPr lang="en-US" sz="750" dirty="0"/>
          </a:p>
        </p:txBody>
      </p:sp>
      <p:sp>
        <p:nvSpPr>
          <p:cNvPr id="11" name="Text 7"/>
          <p:cNvSpPr/>
          <p:nvPr/>
        </p:nvSpPr>
        <p:spPr>
          <a:xfrm>
            <a:off x="300038" y="1543050"/>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Chart.js for dashboard visualization</a:t>
            </a:r>
            <a:endParaRPr lang="en-US" sz="750" dirty="0"/>
          </a:p>
        </p:txBody>
      </p:sp>
      <p:sp>
        <p:nvSpPr>
          <p:cNvPr id="12" name="Text 8"/>
          <p:cNvSpPr/>
          <p:nvPr/>
        </p:nvSpPr>
        <p:spPr>
          <a:xfrm>
            <a:off x="300038" y="1725216"/>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jsPDF and CSV export utilities</a:t>
            </a:r>
            <a:endParaRPr lang="en-US" sz="750" dirty="0"/>
          </a:p>
        </p:txBody>
      </p:sp>
      <p:sp>
        <p:nvSpPr>
          <p:cNvPr id="13" name="Shape 9"/>
          <p:cNvSpPr/>
          <p:nvPr/>
        </p:nvSpPr>
        <p:spPr>
          <a:xfrm>
            <a:off x="4622006" y="685800"/>
            <a:ext cx="4321969" cy="1264444"/>
          </a:xfrm>
          <a:prstGeom prst="rect">
            <a:avLst/>
          </a:prstGeom>
          <a:solidFill>
            <a:srgbClr val="F8F9FA"/>
          </a:solidFill>
          <a:ln w="9144">
            <a:solidFill>
              <a:srgbClr val="E2E8F0"/>
            </a:solidFill>
            <a:prstDash val="solid"/>
          </a:ln>
        </p:spPr>
        <p:txBody>
          <a:bodyPr/>
          <a:lstStyle/>
          <a:p>
            <a:endParaRPr/>
          </a:p>
        </p:txBody>
      </p:sp>
      <p:sp>
        <p:nvSpPr>
          <p:cNvPr id="14" name="Text 10"/>
          <p:cNvSpPr/>
          <p:nvPr/>
        </p:nvSpPr>
        <p:spPr>
          <a:xfrm>
            <a:off x="4722019" y="785813"/>
            <a:ext cx="4121944" cy="139303"/>
          </a:xfrm>
          <a:prstGeom prst="rect">
            <a:avLst/>
          </a:prstGeom>
          <a:noFill/>
          <a:ln/>
        </p:spPr>
        <p:txBody>
          <a:bodyPr wrap="square" lIns="0" tIns="0" rIns="0" bIns="0" rtlCol="0" anchor="t">
            <a:spAutoFit/>
          </a:bodyPr>
          <a:lstStyle/>
          <a:p>
            <a:pPr marL="0" indent="0" algn="l">
              <a:buNone/>
            </a:pPr>
            <a:r>
              <a:rPr lang="en-US" sz="800" b="1" dirty="0">
                <a:solidFill>
                  <a:srgbClr val="007A86"/>
                </a:solidFill>
                <a:latin typeface="Calibri" pitchFamily="34" charset="0"/>
                <a:ea typeface="Inter SemiBold" pitchFamily="34" charset="-122"/>
                <a:cs typeface="Inter SemiBold" pitchFamily="34" charset="-120"/>
              </a:rPr>
              <a:t>Rule-based analytical engine</a:t>
            </a:r>
            <a:endParaRPr lang="en-US" sz="800" dirty="0"/>
          </a:p>
        </p:txBody>
      </p:sp>
      <p:sp>
        <p:nvSpPr>
          <p:cNvPr id="15" name="Text 11"/>
          <p:cNvSpPr/>
          <p:nvPr/>
        </p:nvSpPr>
        <p:spPr>
          <a:xfrm>
            <a:off x="4722019" y="996553"/>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PRR and Chi-square calculations</a:t>
            </a:r>
            <a:endParaRPr lang="en-US" sz="750" dirty="0"/>
          </a:p>
        </p:txBody>
      </p:sp>
      <p:sp>
        <p:nvSpPr>
          <p:cNvPr id="16" name="Text 12"/>
          <p:cNvSpPr/>
          <p:nvPr/>
        </p:nvSpPr>
        <p:spPr>
          <a:xfrm>
            <a:off x="4722019" y="1178719"/>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Threshold-based severity scoring</a:t>
            </a:r>
            <a:endParaRPr lang="en-US" sz="750" dirty="0"/>
          </a:p>
        </p:txBody>
      </p:sp>
      <p:sp>
        <p:nvSpPr>
          <p:cNvPr id="17" name="Text 13"/>
          <p:cNvSpPr/>
          <p:nvPr/>
        </p:nvSpPr>
        <p:spPr>
          <a:xfrm>
            <a:off x="4722019" y="1360884"/>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Increasing / Decreasing / Stable trend logic</a:t>
            </a:r>
            <a:endParaRPr lang="en-US" sz="750" dirty="0"/>
          </a:p>
        </p:txBody>
      </p:sp>
      <p:sp>
        <p:nvSpPr>
          <p:cNvPr id="18" name="Text 14"/>
          <p:cNvSpPr/>
          <p:nvPr/>
        </p:nvSpPr>
        <p:spPr>
          <a:xfrm>
            <a:off x="4722019" y="1543050"/>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CTD completeness and gap analysis</a:t>
            </a:r>
            <a:endParaRPr lang="en-US" sz="750" dirty="0"/>
          </a:p>
        </p:txBody>
      </p:sp>
      <p:sp>
        <p:nvSpPr>
          <p:cNvPr id="19" name="Shape 15"/>
          <p:cNvSpPr/>
          <p:nvPr/>
        </p:nvSpPr>
        <p:spPr>
          <a:xfrm>
            <a:off x="200025" y="2050256"/>
            <a:ext cx="4321969" cy="914400"/>
          </a:xfrm>
          <a:prstGeom prst="rect">
            <a:avLst/>
          </a:prstGeom>
          <a:solidFill>
            <a:srgbClr val="F8F9FA"/>
          </a:solidFill>
          <a:ln w="9144">
            <a:solidFill>
              <a:srgbClr val="E2E8F0"/>
            </a:solidFill>
            <a:prstDash val="solid"/>
          </a:ln>
        </p:spPr>
        <p:txBody>
          <a:bodyPr/>
          <a:lstStyle/>
          <a:p>
            <a:endParaRPr/>
          </a:p>
        </p:txBody>
      </p:sp>
      <p:sp>
        <p:nvSpPr>
          <p:cNvPr id="20" name="Text 16"/>
          <p:cNvSpPr/>
          <p:nvPr/>
        </p:nvSpPr>
        <p:spPr>
          <a:xfrm>
            <a:off x="300038" y="2150269"/>
            <a:ext cx="4121944" cy="139303"/>
          </a:xfrm>
          <a:prstGeom prst="rect">
            <a:avLst/>
          </a:prstGeom>
          <a:noFill/>
          <a:ln/>
        </p:spPr>
        <p:txBody>
          <a:bodyPr wrap="square" lIns="0" tIns="0" rIns="0" bIns="0" rtlCol="0" anchor="t">
            <a:spAutoFit/>
          </a:bodyPr>
          <a:lstStyle/>
          <a:p>
            <a:pPr marL="0" indent="0" algn="l">
              <a:buNone/>
            </a:pPr>
            <a:r>
              <a:rPr lang="en-US" sz="800" b="1" dirty="0">
                <a:solidFill>
                  <a:srgbClr val="007A86"/>
                </a:solidFill>
                <a:latin typeface="Calibri" pitchFamily="34" charset="0"/>
                <a:ea typeface="Inter SemiBold" pitchFamily="34" charset="-122"/>
                <a:cs typeface="Inter SemiBold" pitchFamily="34" charset="-120"/>
              </a:rPr>
              <a:t>IBM BOB AI / watsonx.ai</a:t>
            </a:r>
            <a:endParaRPr lang="en-US" sz="800" dirty="0"/>
          </a:p>
        </p:txBody>
      </p:sp>
      <p:sp>
        <p:nvSpPr>
          <p:cNvPr id="21" name="Text 17"/>
          <p:cNvSpPr/>
          <p:nvPr/>
        </p:nvSpPr>
        <p:spPr>
          <a:xfrm>
            <a:off x="300038" y="2361009"/>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Not evidenced as an active API integration in the supplied code.</a:t>
            </a:r>
            <a:endParaRPr lang="en-US" sz="750" dirty="0"/>
          </a:p>
        </p:txBody>
      </p:sp>
      <p:sp>
        <p:nvSpPr>
          <p:cNvPr id="22" name="Text 18"/>
          <p:cNvSpPr/>
          <p:nvPr/>
        </p:nvSpPr>
        <p:spPr>
          <a:xfrm>
            <a:off x="300038" y="2543175"/>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Planned layer for natural-language interpretation and dossier synthesis.</a:t>
            </a:r>
            <a:endParaRPr lang="en-US" sz="750" dirty="0"/>
          </a:p>
        </p:txBody>
      </p:sp>
      <p:sp>
        <p:nvSpPr>
          <p:cNvPr id="23" name="Text 19"/>
          <p:cNvSpPr/>
          <p:nvPr/>
        </p:nvSpPr>
        <p:spPr>
          <a:xfrm>
            <a:off x="300038" y="2725341"/>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Future scope, not a current implementation claim.</a:t>
            </a:r>
            <a:endParaRPr lang="en-US" sz="750" dirty="0"/>
          </a:p>
        </p:txBody>
      </p:sp>
      <p:sp>
        <p:nvSpPr>
          <p:cNvPr id="24" name="Shape 20"/>
          <p:cNvSpPr/>
          <p:nvPr/>
        </p:nvSpPr>
        <p:spPr>
          <a:xfrm>
            <a:off x="4622006" y="2050256"/>
            <a:ext cx="4321969" cy="900113"/>
          </a:xfrm>
          <a:prstGeom prst="rect">
            <a:avLst/>
          </a:prstGeom>
          <a:solidFill>
            <a:srgbClr val="F8F9FA"/>
          </a:solidFill>
          <a:ln w="9144">
            <a:solidFill>
              <a:srgbClr val="E2E8F0"/>
            </a:solidFill>
            <a:prstDash val="solid"/>
          </a:ln>
        </p:spPr>
        <p:txBody>
          <a:bodyPr/>
          <a:lstStyle/>
          <a:p>
            <a:endParaRPr/>
          </a:p>
        </p:txBody>
      </p:sp>
      <p:sp>
        <p:nvSpPr>
          <p:cNvPr id="25" name="Text 21"/>
          <p:cNvSpPr/>
          <p:nvPr/>
        </p:nvSpPr>
        <p:spPr>
          <a:xfrm>
            <a:off x="4722019" y="2150269"/>
            <a:ext cx="4121944" cy="139303"/>
          </a:xfrm>
          <a:prstGeom prst="rect">
            <a:avLst/>
          </a:prstGeom>
          <a:noFill/>
          <a:ln/>
        </p:spPr>
        <p:txBody>
          <a:bodyPr wrap="square" lIns="0" tIns="0" rIns="0" bIns="0" rtlCol="0" anchor="t">
            <a:spAutoFit/>
          </a:bodyPr>
          <a:lstStyle/>
          <a:p>
            <a:pPr marL="0" indent="0" algn="l">
              <a:buNone/>
            </a:pPr>
            <a:r>
              <a:rPr lang="en-US" sz="800" b="1" dirty="0">
                <a:solidFill>
                  <a:srgbClr val="007A86"/>
                </a:solidFill>
                <a:latin typeface="Calibri" pitchFamily="34" charset="0"/>
                <a:ea typeface="Inter SemiBold" pitchFamily="34" charset="-122"/>
                <a:cs typeface="Inter SemiBold" pitchFamily="34" charset="-120"/>
              </a:rPr>
              <a:t>Transparency principle</a:t>
            </a:r>
            <a:endParaRPr lang="en-US" sz="800" dirty="0"/>
          </a:p>
        </p:txBody>
      </p:sp>
      <p:sp>
        <p:nvSpPr>
          <p:cNvPr id="26" name="Text 22"/>
          <p:cNvSpPr/>
          <p:nvPr/>
        </p:nvSpPr>
        <p:spPr>
          <a:xfrm>
            <a:off x="4722019" y="2361009"/>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Statistical results remain explainable and reviewable.</a:t>
            </a:r>
            <a:endParaRPr lang="en-US" sz="750" dirty="0"/>
          </a:p>
        </p:txBody>
      </p:sp>
      <p:sp>
        <p:nvSpPr>
          <p:cNvPr id="27" name="Text 23"/>
          <p:cNvSpPr/>
          <p:nvPr/>
        </p:nvSpPr>
        <p:spPr>
          <a:xfrm>
            <a:off x="4722019" y="2543175"/>
            <a:ext cx="4121944" cy="125016"/>
          </a:xfrm>
          <a:prstGeom prst="rect">
            <a:avLst/>
          </a:prstGeom>
          <a:noFill/>
          <a:ln/>
        </p:spPr>
        <p:txBody>
          <a:bodyPr wrap="none" lIns="0" tIns="0" rIns="0" bIns="0" rtlCol="0" anchor="t">
            <a:spAutoFit/>
          </a:bodyPr>
          <a:lstStyle/>
          <a:p>
            <a:pPr marL="0" indent="0" algn="l">
              <a:lnSpc>
                <a:spcPct val="100000"/>
              </a:lnSpc>
              <a:buNone/>
            </a:pPr>
            <a:r>
              <a:rPr lang="en-US" sz="750" dirty="0">
                <a:solidFill>
                  <a:srgbClr val="4A5568"/>
                </a:solidFill>
                <a:latin typeface="Calibri" pitchFamily="34" charset="0"/>
                <a:ea typeface="Inter" pitchFamily="34" charset="-122"/>
                <a:cs typeface="Inter" pitchFamily="34" charset="-120"/>
              </a:rPr>
              <a:t>AI should support user decisions, not replace clinical or regulatory review.</a:t>
            </a:r>
            <a:endParaRPr lang="en-US" sz="750" dirty="0"/>
          </a:p>
        </p:txBody>
      </p:sp>
      <p:sp>
        <p:nvSpPr>
          <p:cNvPr id="28" name="Shape 24"/>
          <p:cNvSpPr/>
          <p:nvPr/>
        </p:nvSpPr>
        <p:spPr>
          <a:xfrm>
            <a:off x="200025" y="3050381"/>
            <a:ext cx="8743950" cy="421481"/>
          </a:xfrm>
          <a:prstGeom prst="rect">
            <a:avLst/>
          </a:prstGeom>
          <a:solidFill>
            <a:srgbClr val="FFF1F1"/>
          </a:solidFill>
          <a:ln/>
        </p:spPr>
        <p:txBody>
          <a:bodyPr/>
          <a:lstStyle/>
          <a:p>
            <a:endParaRPr/>
          </a:p>
        </p:txBody>
      </p:sp>
      <p:sp>
        <p:nvSpPr>
          <p:cNvPr id="29" name="Shape 25"/>
          <p:cNvSpPr/>
          <p:nvPr/>
        </p:nvSpPr>
        <p:spPr>
          <a:xfrm>
            <a:off x="200025" y="3050381"/>
            <a:ext cx="21431" cy="421481"/>
          </a:xfrm>
          <a:prstGeom prst="rect">
            <a:avLst/>
          </a:prstGeom>
          <a:solidFill>
            <a:srgbClr val="FF5A5F"/>
          </a:solidFill>
          <a:ln/>
        </p:spPr>
        <p:txBody>
          <a:bodyPr/>
          <a:lstStyle/>
          <a:p>
            <a:endParaRPr/>
          </a:p>
        </p:txBody>
      </p:sp>
      <p:sp>
        <p:nvSpPr>
          <p:cNvPr id="30" name="Text 26"/>
          <p:cNvSpPr/>
          <p:nvPr/>
        </p:nvSpPr>
        <p:spPr>
          <a:xfrm>
            <a:off x="200025" y="3050381"/>
            <a:ext cx="8743950" cy="421481"/>
          </a:xfrm>
          <a:prstGeom prst="rect">
            <a:avLst/>
          </a:prstGeom>
          <a:noFill/>
          <a:ln/>
        </p:spPr>
        <p:txBody>
          <a:bodyPr wrap="square" lIns="102108" tIns="102108" rIns="102108" bIns="102108" rtlCol="0" anchor="t">
            <a:spAutoFit/>
          </a:bodyPr>
          <a:lstStyle/>
          <a:p>
            <a:pPr marL="0" indent="0" algn="l">
              <a:lnSpc>
                <a:spcPct val="100000"/>
              </a:lnSpc>
              <a:buNone/>
            </a:pPr>
            <a:r>
              <a:rPr lang="en-US" sz="700" b="1" dirty="0">
                <a:solidFill>
                  <a:srgbClr val="4A5568"/>
                </a:solidFill>
                <a:latin typeface="Calibri" pitchFamily="34" charset="0"/>
                <a:ea typeface="Inter SemiBold" pitchFamily="34" charset="-122"/>
                <a:cs typeface="Inter SemiBold" pitchFamily="34" charset="-120"/>
              </a:rPr>
              <a:t>Important:</a:t>
            </a:r>
            <a:r>
              <a:rPr lang="en-US" sz="750" dirty="0">
                <a:solidFill>
                  <a:srgbClr val="4A5568"/>
                </a:solidFill>
                <a:latin typeface="Calibri" pitchFamily="34" charset="0"/>
                <a:ea typeface="Inter" pitchFamily="34" charset="-122"/>
                <a:cs typeface="Inter" pitchFamily="34" charset="-120"/>
              </a:rPr>
              <a:t> The current prototype is primarily rule-based/statistical. IBM BOB AI / watsonx.ai is positioned as a future extension rather than claimed as an already-connected service.</a:t>
            </a:r>
            <a:endParaRPr lang="en-US" sz="750" dirty="0"/>
          </a:p>
        </p:txBody>
      </p:sp>
      <p:sp>
        <p:nvSpPr>
          <p:cNvPr id="31" name="Text 27"/>
          <p:cNvSpPr/>
          <p:nvPr/>
        </p:nvSpPr>
        <p:spPr>
          <a:xfrm>
            <a:off x="8829675" y="4832747"/>
            <a:ext cx="114300" cy="110728"/>
          </a:xfrm>
          <a:prstGeom prst="rect">
            <a:avLst/>
          </a:prstGeom>
          <a:noFill/>
          <a:ln/>
        </p:spPr>
        <p:txBody>
          <a:bodyPr wrap="none" lIns="0" tIns="0" rIns="0" bIns="0" rtlCol="0" anchor="t">
            <a:spAutoFit/>
          </a:bodyPr>
          <a:lstStyle/>
          <a:p>
            <a:pPr marL="0" indent="0" algn="l">
              <a:buNone/>
            </a:pPr>
            <a:r>
              <a:rPr lang="en-US" sz="650" dirty="0">
                <a:solidFill>
                  <a:srgbClr val="0B1E36">
                    <a:alpha val="60000"/>
                  </a:srgbClr>
                </a:solidFill>
                <a:latin typeface="Calibri" pitchFamily="34" charset="0"/>
                <a:ea typeface="Inter" pitchFamily="34" charset="-122"/>
                <a:cs typeface="Inter" pitchFamily="34" charset="-120"/>
              </a:rPr>
              <a:t>06</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342900" y="342900"/>
            <a:ext cx="8458200" cy="275034"/>
          </a:xfrm>
          <a:prstGeom prst="rect">
            <a:avLst/>
          </a:prstGeom>
          <a:noFill/>
          <a:ln/>
        </p:spPr>
        <p:txBody>
          <a:bodyPr wrap="square" lIns="0" tIns="0" rIns="0" bIns="0" rtlCol="0" anchor="t">
            <a:spAutoFit/>
          </a:bodyPr>
          <a:lstStyle/>
          <a:p>
            <a:pPr marL="0" indent="0" algn="l">
              <a:buNone/>
            </a:pPr>
            <a:r>
              <a:rPr lang="en-US" sz="1600" b="1" dirty="0">
                <a:solidFill>
                  <a:srgbClr val="0B1E36"/>
                </a:solidFill>
                <a:latin typeface="Calibri" pitchFamily="34" charset="0"/>
                <a:ea typeface="Inter SemiBold" pitchFamily="34" charset="-122"/>
                <a:cs typeface="Inter SemiBold" pitchFamily="34" charset="-120"/>
              </a:rPr>
              <a:t>Impact, Feasibility &amp; Future Scope</a:t>
            </a:r>
            <a:endParaRPr lang="en-US" sz="1600" dirty="0"/>
          </a:p>
        </p:txBody>
      </p:sp>
      <p:sp>
        <p:nvSpPr>
          <p:cNvPr id="5" name="Shape 1"/>
          <p:cNvSpPr/>
          <p:nvPr/>
        </p:nvSpPr>
        <p:spPr>
          <a:xfrm>
            <a:off x="342900" y="960834"/>
            <a:ext cx="2705081" cy="3546872"/>
          </a:xfrm>
          <a:prstGeom prst="rect">
            <a:avLst/>
          </a:prstGeom>
          <a:solidFill>
            <a:srgbClr val="F8F9FA"/>
          </a:solidFill>
          <a:ln w="9144">
            <a:solidFill>
              <a:srgbClr val="E2E8F0"/>
            </a:solidFill>
            <a:prstDash val="solid"/>
          </a:ln>
        </p:spPr>
        <p:txBody>
          <a:bodyPr/>
          <a:lstStyle/>
          <a:p>
            <a:endParaRPr/>
          </a:p>
        </p:txBody>
      </p:sp>
      <p:sp>
        <p:nvSpPr>
          <p:cNvPr id="6" name="Text 2"/>
          <p:cNvSpPr/>
          <p:nvPr/>
        </p:nvSpPr>
        <p:spPr>
          <a:xfrm>
            <a:off x="571500" y="1189434"/>
            <a:ext cx="2247881" cy="278606"/>
          </a:xfrm>
          <a:prstGeom prst="rect">
            <a:avLst/>
          </a:prstGeom>
          <a:noFill/>
          <a:ln/>
        </p:spPr>
        <p:txBody>
          <a:bodyPr wrap="square" lIns="0" tIns="0" rIns="0" bIns="0" rtlCol="0" anchor="t">
            <a:spAutoFit/>
          </a:bodyPr>
          <a:lstStyle/>
          <a:p>
            <a:pPr marL="0" indent="0" algn="l">
              <a:buNone/>
            </a:pPr>
            <a:r>
              <a:rPr lang="en-US" sz="1700" dirty="0">
                <a:solidFill>
                  <a:srgbClr val="007A86"/>
                </a:solidFill>
                <a:latin typeface="Calibri" pitchFamily="34" charset="0"/>
                <a:ea typeface="Inter" pitchFamily="34" charset="-122"/>
                <a:cs typeface="Inter" pitchFamily="34" charset="-120"/>
              </a:rPr>
              <a:t>⚡</a:t>
            </a:r>
            <a:endParaRPr lang="en-US" sz="1700" dirty="0"/>
          </a:p>
        </p:txBody>
      </p:sp>
      <p:sp>
        <p:nvSpPr>
          <p:cNvPr id="7" name="Text 3"/>
          <p:cNvSpPr/>
          <p:nvPr/>
        </p:nvSpPr>
        <p:spPr>
          <a:xfrm>
            <a:off x="571500" y="1639491"/>
            <a:ext cx="2247881" cy="175022"/>
          </a:xfrm>
          <a:prstGeom prst="rect">
            <a:avLst/>
          </a:prstGeom>
          <a:noFill/>
          <a:ln/>
        </p:spPr>
        <p:txBody>
          <a:bodyPr wrap="square" lIns="0" tIns="0" rIns="0" bIns="0" rtlCol="0" anchor="t">
            <a:spAutoFit/>
          </a:bodyPr>
          <a:lstStyle/>
          <a:p>
            <a:pPr marL="0" indent="0" algn="l">
              <a:buNone/>
            </a:pPr>
            <a:r>
              <a:rPr lang="en-US" sz="1000" b="1" kern="0" spc="1" dirty="0">
                <a:solidFill>
                  <a:srgbClr val="007A86"/>
                </a:solidFill>
                <a:latin typeface="Calibri" pitchFamily="34" charset="0"/>
                <a:ea typeface="Inter SemiBold" pitchFamily="34" charset="-122"/>
                <a:cs typeface="Inter SemiBold" pitchFamily="34" charset="-120"/>
              </a:rPr>
              <a:t>IMPACT</a:t>
            </a:r>
            <a:endParaRPr lang="en-US" sz="1000" dirty="0"/>
          </a:p>
        </p:txBody>
      </p:sp>
      <p:sp>
        <p:nvSpPr>
          <p:cNvPr id="8" name="Text 4"/>
          <p:cNvSpPr/>
          <p:nvPr/>
        </p:nvSpPr>
        <p:spPr>
          <a:xfrm>
            <a:off x="571500" y="1985963"/>
            <a:ext cx="2247881"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A5568"/>
                </a:solidFill>
                <a:latin typeface="Calibri" pitchFamily="34" charset="0"/>
                <a:ea typeface="Inter" pitchFamily="34" charset="-122"/>
                <a:cs typeface="Inter" pitchFamily="34" charset="-120"/>
              </a:rPr>
              <a:t>Rapid identification of potential safety signals.</a:t>
            </a:r>
            <a:endParaRPr lang="en-US" sz="850" dirty="0"/>
          </a:p>
        </p:txBody>
      </p:sp>
      <p:sp>
        <p:nvSpPr>
          <p:cNvPr id="9" name="Text 5"/>
          <p:cNvSpPr/>
          <p:nvPr/>
        </p:nvSpPr>
        <p:spPr>
          <a:xfrm>
            <a:off x="571500" y="2420280"/>
            <a:ext cx="2247881"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A5568"/>
                </a:solidFill>
                <a:latin typeface="Calibri" pitchFamily="34" charset="0"/>
                <a:ea typeface="Inter" pitchFamily="34" charset="-122"/>
                <a:cs typeface="Inter" pitchFamily="34" charset="-120"/>
              </a:rPr>
              <a:t>Enhanced decision support for PV teams.</a:t>
            </a:r>
            <a:endParaRPr lang="en-US" sz="850" dirty="0"/>
          </a:p>
        </p:txBody>
      </p:sp>
      <p:sp>
        <p:nvSpPr>
          <p:cNvPr id="10" name="Text 6"/>
          <p:cNvSpPr/>
          <p:nvPr/>
        </p:nvSpPr>
        <p:spPr>
          <a:xfrm>
            <a:off x="571500" y="2854598"/>
            <a:ext cx="2247881"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A5568"/>
                </a:solidFill>
                <a:latin typeface="Calibri" pitchFamily="34" charset="0"/>
                <a:ea typeface="Inter" pitchFamily="34" charset="-122"/>
                <a:cs typeface="Inter" pitchFamily="34" charset="-120"/>
              </a:rPr>
              <a:t>Reduced manual effort in data normalization.</a:t>
            </a:r>
            <a:endParaRPr lang="en-US" sz="850" dirty="0"/>
          </a:p>
        </p:txBody>
      </p:sp>
      <p:sp>
        <p:nvSpPr>
          <p:cNvPr id="11" name="Text 7"/>
          <p:cNvSpPr/>
          <p:nvPr/>
        </p:nvSpPr>
        <p:spPr>
          <a:xfrm>
            <a:off x="571500" y="3288916"/>
            <a:ext cx="2247881" cy="160009"/>
          </a:xfrm>
          <a:prstGeom prst="rect">
            <a:avLst/>
          </a:prstGeom>
          <a:noFill/>
          <a:ln/>
        </p:spPr>
        <p:txBody>
          <a:bodyPr wrap="none" lIns="0" tIns="0" rIns="0" bIns="0" rtlCol="0" anchor="t">
            <a:spAutoFit/>
          </a:bodyPr>
          <a:lstStyle/>
          <a:p>
            <a:pPr marL="0" indent="0" algn="l">
              <a:lnSpc>
                <a:spcPct val="112000"/>
              </a:lnSpc>
              <a:buNone/>
            </a:pPr>
            <a:r>
              <a:rPr lang="en-US" sz="850" dirty="0">
                <a:solidFill>
                  <a:srgbClr val="4A5568"/>
                </a:solidFill>
                <a:latin typeface="Calibri" pitchFamily="34" charset="0"/>
                <a:ea typeface="Inter" pitchFamily="34" charset="-122"/>
                <a:cs typeface="Inter" pitchFamily="34" charset="-120"/>
              </a:rPr>
              <a:t>Improved visibility into safety trends.</a:t>
            </a:r>
            <a:endParaRPr lang="en-US" sz="850" dirty="0"/>
          </a:p>
        </p:txBody>
      </p:sp>
      <p:sp>
        <p:nvSpPr>
          <p:cNvPr id="12" name="Shape 8"/>
          <p:cNvSpPr/>
          <p:nvPr/>
        </p:nvSpPr>
        <p:spPr>
          <a:xfrm>
            <a:off x="3219431" y="960834"/>
            <a:ext cx="2705081" cy="3546872"/>
          </a:xfrm>
          <a:prstGeom prst="rect">
            <a:avLst/>
          </a:prstGeom>
          <a:solidFill>
            <a:srgbClr val="F8F9FA"/>
          </a:solidFill>
          <a:ln w="9144">
            <a:solidFill>
              <a:srgbClr val="E2E8F0"/>
            </a:solidFill>
            <a:prstDash val="solid"/>
          </a:ln>
        </p:spPr>
        <p:txBody>
          <a:bodyPr/>
          <a:lstStyle/>
          <a:p>
            <a:endParaRPr/>
          </a:p>
        </p:txBody>
      </p:sp>
      <p:sp>
        <p:nvSpPr>
          <p:cNvPr id="13" name="Text 9"/>
          <p:cNvSpPr/>
          <p:nvPr/>
        </p:nvSpPr>
        <p:spPr>
          <a:xfrm>
            <a:off x="3448031" y="1189434"/>
            <a:ext cx="2247881" cy="278606"/>
          </a:xfrm>
          <a:prstGeom prst="rect">
            <a:avLst/>
          </a:prstGeom>
          <a:noFill/>
          <a:ln/>
        </p:spPr>
        <p:txBody>
          <a:bodyPr wrap="square" lIns="0" tIns="0" rIns="0" bIns="0" rtlCol="0" anchor="t">
            <a:spAutoFit/>
          </a:bodyPr>
          <a:lstStyle/>
          <a:p>
            <a:pPr marL="0" indent="0" algn="l">
              <a:buNone/>
            </a:pPr>
            <a:r>
              <a:rPr lang="en-US" sz="1700" dirty="0">
                <a:solidFill>
                  <a:srgbClr val="007A86"/>
                </a:solidFill>
                <a:latin typeface="Calibri" pitchFamily="34" charset="0"/>
                <a:ea typeface="Inter" pitchFamily="34" charset="-122"/>
                <a:cs typeface="Inter" pitchFamily="34" charset="-120"/>
              </a:rPr>
              <a:t>🛠️</a:t>
            </a:r>
            <a:endParaRPr lang="en-US" sz="1700" dirty="0"/>
          </a:p>
        </p:txBody>
      </p:sp>
      <p:sp>
        <p:nvSpPr>
          <p:cNvPr id="14" name="Text 10"/>
          <p:cNvSpPr/>
          <p:nvPr/>
        </p:nvSpPr>
        <p:spPr>
          <a:xfrm>
            <a:off x="3448031" y="1639491"/>
            <a:ext cx="2247881" cy="175022"/>
          </a:xfrm>
          <a:prstGeom prst="rect">
            <a:avLst/>
          </a:prstGeom>
          <a:noFill/>
          <a:ln/>
        </p:spPr>
        <p:txBody>
          <a:bodyPr wrap="square" lIns="0" tIns="0" rIns="0" bIns="0" rtlCol="0" anchor="t">
            <a:spAutoFit/>
          </a:bodyPr>
          <a:lstStyle/>
          <a:p>
            <a:pPr marL="0" indent="0" algn="l">
              <a:buNone/>
            </a:pPr>
            <a:r>
              <a:rPr lang="en-US" sz="1000" b="1" kern="0" spc="1" dirty="0">
                <a:solidFill>
                  <a:srgbClr val="007A86"/>
                </a:solidFill>
                <a:latin typeface="Calibri" pitchFamily="34" charset="0"/>
                <a:ea typeface="Inter SemiBold" pitchFamily="34" charset="-122"/>
                <a:cs typeface="Inter SemiBold" pitchFamily="34" charset="-120"/>
              </a:rPr>
              <a:t>FEASIBILITY</a:t>
            </a:r>
            <a:endParaRPr lang="en-US" sz="1000" dirty="0"/>
          </a:p>
        </p:txBody>
      </p:sp>
      <p:sp>
        <p:nvSpPr>
          <p:cNvPr id="15" name="Text 11"/>
          <p:cNvSpPr/>
          <p:nvPr/>
        </p:nvSpPr>
        <p:spPr>
          <a:xfrm>
            <a:off x="3448031" y="1985963"/>
            <a:ext cx="2247881"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A5568"/>
                </a:solidFill>
                <a:latin typeface="Calibri" pitchFamily="34" charset="0"/>
                <a:ea typeface="Inter" pitchFamily="34" charset="-122"/>
                <a:cs typeface="Inter" pitchFamily="34" charset="-120"/>
              </a:rPr>
              <a:t>Lightweight, browser-based architecture.</a:t>
            </a:r>
            <a:endParaRPr lang="en-US" sz="850" dirty="0"/>
          </a:p>
        </p:txBody>
      </p:sp>
      <p:sp>
        <p:nvSpPr>
          <p:cNvPr id="16" name="Text 12"/>
          <p:cNvSpPr/>
          <p:nvPr/>
        </p:nvSpPr>
        <p:spPr>
          <a:xfrm>
            <a:off x="3448031" y="2420280"/>
            <a:ext cx="2247881"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A5568"/>
                </a:solidFill>
                <a:latin typeface="Calibri" pitchFamily="34" charset="0"/>
                <a:ea typeface="Inter" pitchFamily="34" charset="-122"/>
                <a:cs typeface="Inter" pitchFamily="34" charset="-120"/>
              </a:rPr>
              <a:t>Modular design for easy feature expansion.</a:t>
            </a:r>
            <a:endParaRPr lang="en-US" sz="850" dirty="0"/>
          </a:p>
        </p:txBody>
      </p:sp>
      <p:sp>
        <p:nvSpPr>
          <p:cNvPr id="17" name="Text 13"/>
          <p:cNvSpPr/>
          <p:nvPr/>
        </p:nvSpPr>
        <p:spPr>
          <a:xfrm>
            <a:off x="3448031" y="2854598"/>
            <a:ext cx="2247881"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A5568"/>
                </a:solidFill>
                <a:latin typeface="Calibri" pitchFamily="34" charset="0"/>
                <a:ea typeface="Inter" pitchFamily="34" charset="-122"/>
                <a:cs typeface="Inter" pitchFamily="34" charset="-120"/>
              </a:rPr>
              <a:t>Integrates with standard CSV safety data.</a:t>
            </a:r>
            <a:endParaRPr lang="en-US" sz="850" dirty="0"/>
          </a:p>
        </p:txBody>
      </p:sp>
      <p:sp>
        <p:nvSpPr>
          <p:cNvPr id="18" name="Text 14"/>
          <p:cNvSpPr/>
          <p:nvPr/>
        </p:nvSpPr>
        <p:spPr>
          <a:xfrm>
            <a:off x="3448031" y="3288916"/>
            <a:ext cx="2247881" cy="160009"/>
          </a:xfrm>
          <a:prstGeom prst="rect">
            <a:avLst/>
          </a:prstGeom>
          <a:noFill/>
          <a:ln/>
        </p:spPr>
        <p:txBody>
          <a:bodyPr wrap="none" lIns="0" tIns="0" rIns="0" bIns="0" rtlCol="0" anchor="t">
            <a:spAutoFit/>
          </a:bodyPr>
          <a:lstStyle/>
          <a:p>
            <a:pPr marL="0" indent="0" algn="l">
              <a:lnSpc>
                <a:spcPct val="112000"/>
              </a:lnSpc>
              <a:buNone/>
            </a:pPr>
            <a:r>
              <a:rPr lang="en-US" sz="850" dirty="0">
                <a:solidFill>
                  <a:srgbClr val="4A5568"/>
                </a:solidFill>
                <a:latin typeface="Calibri" pitchFamily="34" charset="0"/>
                <a:ea typeface="Inter" pitchFamily="34" charset="-122"/>
                <a:cs typeface="Inter" pitchFamily="34" charset="-120"/>
              </a:rPr>
              <a:t>Scalable AI layer for future insights.</a:t>
            </a:r>
            <a:endParaRPr lang="en-US" sz="850" dirty="0"/>
          </a:p>
        </p:txBody>
      </p:sp>
      <p:sp>
        <p:nvSpPr>
          <p:cNvPr id="19" name="Shape 15"/>
          <p:cNvSpPr/>
          <p:nvPr/>
        </p:nvSpPr>
        <p:spPr>
          <a:xfrm>
            <a:off x="6095963" y="960834"/>
            <a:ext cx="2705081" cy="3546872"/>
          </a:xfrm>
          <a:prstGeom prst="rect">
            <a:avLst/>
          </a:prstGeom>
          <a:solidFill>
            <a:srgbClr val="F8F9FA"/>
          </a:solidFill>
          <a:ln w="9144">
            <a:solidFill>
              <a:srgbClr val="E2E8F0"/>
            </a:solidFill>
            <a:prstDash val="solid"/>
          </a:ln>
        </p:spPr>
        <p:txBody>
          <a:bodyPr/>
          <a:lstStyle/>
          <a:p>
            <a:endParaRPr/>
          </a:p>
        </p:txBody>
      </p:sp>
      <p:sp>
        <p:nvSpPr>
          <p:cNvPr id="20" name="Text 16"/>
          <p:cNvSpPr/>
          <p:nvPr/>
        </p:nvSpPr>
        <p:spPr>
          <a:xfrm>
            <a:off x="6324563" y="1189434"/>
            <a:ext cx="2247881" cy="278606"/>
          </a:xfrm>
          <a:prstGeom prst="rect">
            <a:avLst/>
          </a:prstGeom>
          <a:noFill/>
          <a:ln/>
        </p:spPr>
        <p:txBody>
          <a:bodyPr wrap="square" lIns="0" tIns="0" rIns="0" bIns="0" rtlCol="0" anchor="t">
            <a:spAutoFit/>
          </a:bodyPr>
          <a:lstStyle/>
          <a:p>
            <a:pPr marL="0" indent="0" algn="l">
              <a:buNone/>
            </a:pPr>
            <a:r>
              <a:rPr lang="en-US" sz="1700" dirty="0">
                <a:solidFill>
                  <a:srgbClr val="007A86"/>
                </a:solidFill>
                <a:latin typeface="Calibri" pitchFamily="34" charset="0"/>
                <a:ea typeface="Inter" pitchFamily="34" charset="-122"/>
                <a:cs typeface="Inter" pitchFamily="34" charset="-120"/>
              </a:rPr>
              <a:t>🚀</a:t>
            </a:r>
            <a:endParaRPr lang="en-US" sz="1700" dirty="0"/>
          </a:p>
        </p:txBody>
      </p:sp>
      <p:sp>
        <p:nvSpPr>
          <p:cNvPr id="21" name="Text 17"/>
          <p:cNvSpPr/>
          <p:nvPr/>
        </p:nvSpPr>
        <p:spPr>
          <a:xfrm>
            <a:off x="6324563" y="1639491"/>
            <a:ext cx="2247881" cy="175022"/>
          </a:xfrm>
          <a:prstGeom prst="rect">
            <a:avLst/>
          </a:prstGeom>
          <a:noFill/>
          <a:ln/>
        </p:spPr>
        <p:txBody>
          <a:bodyPr wrap="square" lIns="0" tIns="0" rIns="0" bIns="0" rtlCol="0" anchor="t">
            <a:spAutoFit/>
          </a:bodyPr>
          <a:lstStyle/>
          <a:p>
            <a:pPr marL="0" indent="0" algn="l">
              <a:buNone/>
            </a:pPr>
            <a:r>
              <a:rPr lang="en-US" sz="1000" b="1" kern="0" spc="1" dirty="0">
                <a:solidFill>
                  <a:srgbClr val="007A86"/>
                </a:solidFill>
                <a:latin typeface="Calibri" pitchFamily="34" charset="0"/>
                <a:ea typeface="Inter SemiBold" pitchFamily="34" charset="-122"/>
                <a:cs typeface="Inter SemiBold" pitchFamily="34" charset="-120"/>
              </a:rPr>
              <a:t>FUTURE SCOPE</a:t>
            </a:r>
            <a:endParaRPr lang="en-US" sz="1000" dirty="0"/>
          </a:p>
        </p:txBody>
      </p:sp>
      <p:sp>
        <p:nvSpPr>
          <p:cNvPr id="22" name="Text 18"/>
          <p:cNvSpPr/>
          <p:nvPr/>
        </p:nvSpPr>
        <p:spPr>
          <a:xfrm>
            <a:off x="6324563" y="1985963"/>
            <a:ext cx="2247881"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A5568"/>
                </a:solidFill>
                <a:latin typeface="Calibri" pitchFamily="34" charset="0"/>
                <a:ea typeface="Inter" pitchFamily="34" charset="-122"/>
                <a:cs typeface="Inter" pitchFamily="34" charset="-120"/>
              </a:rPr>
              <a:t>Integration with real-world FDA/EMA datasets.</a:t>
            </a:r>
            <a:endParaRPr lang="en-US" sz="850" dirty="0"/>
          </a:p>
        </p:txBody>
      </p:sp>
      <p:sp>
        <p:nvSpPr>
          <p:cNvPr id="23" name="Text 19"/>
          <p:cNvSpPr/>
          <p:nvPr/>
        </p:nvSpPr>
        <p:spPr>
          <a:xfrm>
            <a:off x="6324563" y="2420280"/>
            <a:ext cx="2247881"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A5568"/>
                </a:solidFill>
                <a:latin typeface="Calibri" pitchFamily="34" charset="0"/>
                <a:ea typeface="Inter" pitchFamily="34" charset="-122"/>
                <a:cs typeface="Inter" pitchFamily="34" charset="-120"/>
              </a:rPr>
              <a:t>Advanced IBM watsonx.ai insight generation.</a:t>
            </a:r>
            <a:endParaRPr lang="en-US" sz="850" dirty="0"/>
          </a:p>
        </p:txBody>
      </p:sp>
      <p:sp>
        <p:nvSpPr>
          <p:cNvPr id="24" name="Text 20"/>
          <p:cNvSpPr/>
          <p:nvPr/>
        </p:nvSpPr>
        <p:spPr>
          <a:xfrm>
            <a:off x="6324563" y="2854598"/>
            <a:ext cx="2247881"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A5568"/>
                </a:solidFill>
                <a:latin typeface="Calibri" pitchFamily="34" charset="0"/>
                <a:ea typeface="Inter" pitchFamily="34" charset="-122"/>
                <a:cs typeface="Inter" pitchFamily="34" charset="-120"/>
              </a:rPr>
              <a:t>Automated regulatory document drafting.</a:t>
            </a:r>
            <a:endParaRPr lang="en-US" sz="850" dirty="0"/>
          </a:p>
        </p:txBody>
      </p:sp>
      <p:sp>
        <p:nvSpPr>
          <p:cNvPr id="25" name="Text 21"/>
          <p:cNvSpPr/>
          <p:nvPr/>
        </p:nvSpPr>
        <p:spPr>
          <a:xfrm>
            <a:off x="6324563" y="3288916"/>
            <a:ext cx="2247881" cy="320018"/>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4A5568"/>
                </a:solidFill>
                <a:latin typeface="Calibri" pitchFamily="34" charset="0"/>
                <a:ea typeface="Inter" pitchFamily="34" charset="-122"/>
                <a:cs typeface="Inter" pitchFamily="34" charset="-120"/>
              </a:rPr>
              <a:t>Continuous real-time safety monitoring.</a:t>
            </a:r>
            <a:endParaRPr lang="en-US" sz="850" dirty="0"/>
          </a:p>
        </p:txBody>
      </p:sp>
      <p:sp>
        <p:nvSpPr>
          <p:cNvPr id="26" name="Text 22"/>
          <p:cNvSpPr/>
          <p:nvPr/>
        </p:nvSpPr>
        <p:spPr>
          <a:xfrm>
            <a:off x="8683228" y="4679156"/>
            <a:ext cx="117872" cy="121444"/>
          </a:xfrm>
          <a:prstGeom prst="rect">
            <a:avLst/>
          </a:prstGeom>
          <a:noFill/>
          <a:ln/>
        </p:spPr>
        <p:txBody>
          <a:bodyPr wrap="none" lIns="0" tIns="0" rIns="0" bIns="0" rtlCol="0" anchor="t">
            <a:spAutoFit/>
          </a:bodyPr>
          <a:lstStyle/>
          <a:p>
            <a:pPr marL="0" indent="0" algn="l">
              <a:buNone/>
            </a:pPr>
            <a:r>
              <a:rPr lang="en-US" sz="750" dirty="0">
                <a:solidFill>
                  <a:srgbClr val="0B1E36">
                    <a:alpha val="50000"/>
                  </a:srgbClr>
                </a:solidFill>
                <a:latin typeface="Calibri" pitchFamily="34" charset="0"/>
                <a:ea typeface="Inter" pitchFamily="34" charset="-122"/>
                <a:cs typeface="Inter" pitchFamily="34" charset="-120"/>
              </a:rPr>
              <a:t>07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342900" y="342900"/>
            <a:ext cx="8458200" cy="275034"/>
          </a:xfrm>
          <a:prstGeom prst="rect">
            <a:avLst/>
          </a:prstGeom>
          <a:noFill/>
          <a:ln/>
        </p:spPr>
        <p:txBody>
          <a:bodyPr wrap="square" lIns="0" tIns="0" rIns="0" bIns="0" rtlCol="0" anchor="t">
            <a:spAutoFit/>
          </a:bodyPr>
          <a:lstStyle/>
          <a:p>
            <a:pPr marL="0" indent="0" algn="l">
              <a:buNone/>
            </a:pPr>
            <a:r>
              <a:rPr lang="en-US" sz="1600" b="1" dirty="0">
                <a:solidFill>
                  <a:srgbClr val="0B1E36"/>
                </a:solidFill>
                <a:latin typeface="Calibri" pitchFamily="34" charset="0"/>
                <a:ea typeface="Inter SemiBold" pitchFamily="34" charset="-122"/>
                <a:cs typeface="Inter SemiBold" pitchFamily="34" charset="-120"/>
              </a:rPr>
              <a:t>Team</a:t>
            </a:r>
            <a:endParaRPr lang="en-US" sz="1600" dirty="0"/>
          </a:p>
        </p:txBody>
      </p:sp>
      <p:sp>
        <p:nvSpPr>
          <p:cNvPr id="5" name="Text 1"/>
          <p:cNvSpPr/>
          <p:nvPr/>
        </p:nvSpPr>
        <p:spPr>
          <a:xfrm>
            <a:off x="342900" y="675084"/>
            <a:ext cx="8458200" cy="146194"/>
          </a:xfrm>
          <a:prstGeom prst="rect">
            <a:avLst/>
          </a:prstGeom>
          <a:noFill/>
          <a:ln/>
        </p:spPr>
        <p:txBody>
          <a:bodyPr wrap="square" lIns="0" tIns="0" rIns="0" bIns="0" rtlCol="0" anchor="t">
            <a:spAutoFit/>
          </a:bodyPr>
          <a:lstStyle/>
          <a:p>
            <a:pPr marL="0" indent="0" algn="l">
              <a:buNone/>
            </a:pPr>
            <a:r>
              <a:rPr lang="en-US" sz="950" dirty="0">
                <a:solidFill>
                  <a:srgbClr val="4A5568"/>
                </a:solidFill>
                <a:latin typeface="Calibri" pitchFamily="34" charset="0"/>
                <a:ea typeface="Inter" pitchFamily="34" charset="-122"/>
                <a:cs typeface="Inter" pitchFamily="34" charset="-120"/>
              </a:rPr>
              <a:t>Infinite Developers </a:t>
            </a:r>
            <a:endParaRPr lang="en-US" sz="950" dirty="0"/>
          </a:p>
        </p:txBody>
      </p:sp>
      <p:sp>
        <p:nvSpPr>
          <p:cNvPr id="6" name="Shape 2"/>
          <p:cNvSpPr/>
          <p:nvPr/>
        </p:nvSpPr>
        <p:spPr>
          <a:xfrm>
            <a:off x="342900" y="1075134"/>
            <a:ext cx="4129088" cy="957932"/>
          </a:xfrm>
          <a:prstGeom prst="rect">
            <a:avLst/>
          </a:prstGeom>
          <a:solidFill>
            <a:srgbClr val="F8F9FA"/>
          </a:solidFill>
          <a:ln w="9144">
            <a:solidFill>
              <a:srgbClr val="E2E8F0"/>
            </a:solidFill>
            <a:prstDash val="solid"/>
          </a:ln>
        </p:spPr>
        <p:txBody>
          <a:bodyPr/>
          <a:lstStyle/>
          <a:p>
            <a:endParaRPr/>
          </a:p>
        </p:txBody>
      </p:sp>
      <p:sp>
        <p:nvSpPr>
          <p:cNvPr id="7" name="Text 3"/>
          <p:cNvSpPr/>
          <p:nvPr/>
        </p:nvSpPr>
        <p:spPr>
          <a:xfrm>
            <a:off x="500063" y="1232297"/>
            <a:ext cx="3814763" cy="176972"/>
          </a:xfrm>
          <a:prstGeom prst="rect">
            <a:avLst/>
          </a:prstGeom>
          <a:noFill/>
          <a:ln/>
        </p:spPr>
        <p:txBody>
          <a:bodyPr wrap="square" lIns="0" tIns="0" rIns="0" bIns="0" rtlCol="0" anchor="t">
            <a:spAutoFit/>
          </a:bodyPr>
          <a:lstStyle/>
          <a:p>
            <a:pPr marL="0" indent="0" algn="l">
              <a:buNone/>
            </a:pPr>
            <a:r>
              <a:rPr lang="en-US" sz="1150" b="1" dirty="0">
                <a:solidFill>
                  <a:srgbClr val="FF5A5F"/>
                </a:solidFill>
                <a:latin typeface="Calibri" pitchFamily="34" charset="0"/>
                <a:ea typeface="Inter SemiBold" pitchFamily="34" charset="-122"/>
                <a:cs typeface="Inter SemiBold" pitchFamily="34" charset="-120"/>
              </a:rPr>
              <a:t>Team Leader: Preet Mali</a:t>
            </a:r>
            <a:endParaRPr lang="en-US" sz="1150" dirty="0"/>
          </a:p>
        </p:txBody>
      </p:sp>
      <p:sp>
        <p:nvSpPr>
          <p:cNvPr id="8" name="Text 4"/>
          <p:cNvSpPr/>
          <p:nvPr/>
        </p:nvSpPr>
        <p:spPr>
          <a:xfrm>
            <a:off x="500063" y="1503759"/>
            <a:ext cx="3814763" cy="146447"/>
          </a:xfrm>
          <a:prstGeom prst="rect">
            <a:avLst/>
          </a:prstGeom>
          <a:noFill/>
          <a:ln/>
        </p:spPr>
        <p:txBody>
          <a:bodyPr wrap="square" lIns="0" tIns="0" rIns="0" bIns="0" rtlCol="0" anchor="t">
            <a:spAutoFit/>
          </a:bodyPr>
          <a:lstStyle/>
          <a:p>
            <a:pPr marL="0" indent="0" algn="l">
              <a:buNone/>
            </a:pPr>
            <a:r>
              <a:rPr lang="en-US" sz="850" b="1" dirty="0">
                <a:solidFill>
                  <a:srgbClr val="007A86"/>
                </a:solidFill>
                <a:latin typeface="Calibri" pitchFamily="34" charset="0"/>
                <a:ea typeface="Inter SemiBold" pitchFamily="34" charset="-122"/>
                <a:cs typeface="Inter SemiBold" pitchFamily="34" charset="-120"/>
              </a:rPr>
              <a:t>[ROLE / AREA]</a:t>
            </a:r>
            <a:endParaRPr lang="en-US" sz="850" dirty="0"/>
          </a:p>
        </p:txBody>
      </p:sp>
      <p:sp>
        <p:nvSpPr>
          <p:cNvPr id="9" name="Text 5"/>
          <p:cNvSpPr/>
          <p:nvPr/>
        </p:nvSpPr>
        <p:spPr>
          <a:xfrm>
            <a:off x="500063" y="1707356"/>
            <a:ext cx="1110882" cy="134780"/>
          </a:xfrm>
          <a:prstGeom prst="rect">
            <a:avLst/>
          </a:prstGeom>
          <a:noFill/>
          <a:ln/>
        </p:spPr>
        <p:txBody>
          <a:bodyPr wrap="none" lIns="0" tIns="0" rIns="0" bIns="0" rtlCol="0" anchor="t">
            <a:spAutoFit/>
          </a:bodyPr>
          <a:lstStyle/>
          <a:p>
            <a:pPr marL="0" indent="0" algn="l">
              <a:lnSpc>
                <a:spcPct val="108000"/>
              </a:lnSpc>
              <a:buNone/>
            </a:pPr>
            <a:r>
              <a:rPr lang="en-US" sz="850" dirty="0">
                <a:solidFill>
                  <a:srgbClr val="4A5568"/>
                </a:solidFill>
                <a:latin typeface="Calibri" pitchFamily="34" charset="0"/>
                <a:ea typeface="Inter" pitchFamily="34" charset="-122"/>
                <a:cs typeface="Inter" pitchFamily="34" charset="-120"/>
              </a:rPr>
              <a:t>Built: Data and Backend  </a:t>
            </a:r>
            <a:endParaRPr lang="en-US" sz="850" dirty="0"/>
          </a:p>
        </p:txBody>
      </p:sp>
      <p:sp>
        <p:nvSpPr>
          <p:cNvPr id="10" name="Shape 6"/>
          <p:cNvSpPr/>
          <p:nvPr/>
        </p:nvSpPr>
        <p:spPr>
          <a:xfrm>
            <a:off x="4672013" y="1075134"/>
            <a:ext cx="4129088" cy="957932"/>
          </a:xfrm>
          <a:prstGeom prst="rect">
            <a:avLst/>
          </a:prstGeom>
          <a:solidFill>
            <a:srgbClr val="F8F9FA"/>
          </a:solidFill>
          <a:ln w="9144">
            <a:solidFill>
              <a:srgbClr val="E2E8F0"/>
            </a:solidFill>
            <a:prstDash val="solid"/>
          </a:ln>
        </p:spPr>
        <p:txBody>
          <a:bodyPr/>
          <a:lstStyle/>
          <a:p>
            <a:endParaRPr/>
          </a:p>
        </p:txBody>
      </p:sp>
      <p:sp>
        <p:nvSpPr>
          <p:cNvPr id="11" name="Text 7"/>
          <p:cNvSpPr/>
          <p:nvPr/>
        </p:nvSpPr>
        <p:spPr>
          <a:xfrm>
            <a:off x="4829175" y="1232297"/>
            <a:ext cx="3814763" cy="176972"/>
          </a:xfrm>
          <a:prstGeom prst="rect">
            <a:avLst/>
          </a:prstGeom>
          <a:noFill/>
          <a:ln/>
        </p:spPr>
        <p:txBody>
          <a:bodyPr wrap="square" lIns="0" tIns="0" rIns="0" bIns="0" rtlCol="0" anchor="t">
            <a:spAutoFit/>
          </a:bodyPr>
          <a:lstStyle/>
          <a:p>
            <a:pPr marL="0" indent="0" algn="l">
              <a:buNone/>
            </a:pPr>
            <a:r>
              <a:rPr lang="en-US" sz="1150" b="1" dirty="0">
                <a:solidFill>
                  <a:srgbClr val="FF5A5F"/>
                </a:solidFill>
                <a:latin typeface="Calibri" pitchFamily="34" charset="0"/>
                <a:ea typeface="Inter SemiBold" pitchFamily="34" charset="-122"/>
                <a:cs typeface="Inter SemiBold" pitchFamily="34" charset="-120"/>
              </a:rPr>
              <a:t>TEAM MEMBER: Deep Lalwani</a:t>
            </a:r>
            <a:endParaRPr lang="en-US" sz="1150" dirty="0"/>
          </a:p>
        </p:txBody>
      </p:sp>
      <p:sp>
        <p:nvSpPr>
          <p:cNvPr id="12" name="Text 8"/>
          <p:cNvSpPr/>
          <p:nvPr/>
        </p:nvSpPr>
        <p:spPr>
          <a:xfrm>
            <a:off x="4829175" y="1503759"/>
            <a:ext cx="3814763" cy="146447"/>
          </a:xfrm>
          <a:prstGeom prst="rect">
            <a:avLst/>
          </a:prstGeom>
          <a:noFill/>
          <a:ln/>
        </p:spPr>
        <p:txBody>
          <a:bodyPr wrap="square" lIns="0" tIns="0" rIns="0" bIns="0" rtlCol="0" anchor="t">
            <a:spAutoFit/>
          </a:bodyPr>
          <a:lstStyle/>
          <a:p>
            <a:pPr marL="0" indent="0" algn="l">
              <a:buNone/>
            </a:pPr>
            <a:r>
              <a:rPr lang="en-US" sz="850" b="1" dirty="0">
                <a:solidFill>
                  <a:srgbClr val="007A86"/>
                </a:solidFill>
                <a:latin typeface="Calibri" pitchFamily="34" charset="0"/>
                <a:ea typeface="Inter SemiBold" pitchFamily="34" charset="-122"/>
                <a:cs typeface="Inter SemiBold" pitchFamily="34" charset="-120"/>
              </a:rPr>
              <a:t>[ROLE / AREA]</a:t>
            </a:r>
            <a:endParaRPr lang="en-US" sz="850" dirty="0"/>
          </a:p>
        </p:txBody>
      </p:sp>
      <p:sp>
        <p:nvSpPr>
          <p:cNvPr id="13" name="Text 9"/>
          <p:cNvSpPr/>
          <p:nvPr/>
        </p:nvSpPr>
        <p:spPr>
          <a:xfrm>
            <a:off x="4829175" y="1707356"/>
            <a:ext cx="1293624" cy="134780"/>
          </a:xfrm>
          <a:prstGeom prst="rect">
            <a:avLst/>
          </a:prstGeom>
          <a:noFill/>
          <a:ln/>
        </p:spPr>
        <p:txBody>
          <a:bodyPr wrap="none" lIns="0" tIns="0" rIns="0" bIns="0" rtlCol="0" anchor="t">
            <a:spAutoFit/>
          </a:bodyPr>
          <a:lstStyle/>
          <a:p>
            <a:pPr>
              <a:lnSpc>
                <a:spcPct val="108000"/>
              </a:lnSpc>
            </a:pPr>
            <a:r>
              <a:rPr lang="en-US" sz="850" dirty="0">
                <a:solidFill>
                  <a:srgbClr val="4A5568"/>
                </a:solidFill>
                <a:latin typeface="Calibri" pitchFamily="34" charset="0"/>
                <a:ea typeface="Inter" pitchFamily="34" charset="-122"/>
                <a:cs typeface="Inter" pitchFamily="34" charset="-120"/>
              </a:rPr>
              <a:t>Built: AI/ML + PRR/Statistics  </a:t>
            </a:r>
            <a:endParaRPr lang="en-US" sz="850" dirty="0"/>
          </a:p>
        </p:txBody>
      </p:sp>
      <p:sp>
        <p:nvSpPr>
          <p:cNvPr id="14" name="Shape 10"/>
          <p:cNvSpPr/>
          <p:nvPr/>
        </p:nvSpPr>
        <p:spPr>
          <a:xfrm>
            <a:off x="342900" y="2147367"/>
            <a:ext cx="4129088" cy="957932"/>
          </a:xfrm>
          <a:prstGeom prst="rect">
            <a:avLst/>
          </a:prstGeom>
          <a:solidFill>
            <a:srgbClr val="F8F9FA"/>
          </a:solidFill>
          <a:ln w="9144">
            <a:solidFill>
              <a:srgbClr val="E2E8F0"/>
            </a:solidFill>
            <a:prstDash val="solid"/>
          </a:ln>
        </p:spPr>
        <p:txBody>
          <a:bodyPr/>
          <a:lstStyle/>
          <a:p>
            <a:endParaRPr/>
          </a:p>
        </p:txBody>
      </p:sp>
      <p:sp>
        <p:nvSpPr>
          <p:cNvPr id="15" name="Text 11"/>
          <p:cNvSpPr/>
          <p:nvPr/>
        </p:nvSpPr>
        <p:spPr>
          <a:xfrm>
            <a:off x="500063" y="2304529"/>
            <a:ext cx="3814763" cy="176972"/>
          </a:xfrm>
          <a:prstGeom prst="rect">
            <a:avLst/>
          </a:prstGeom>
          <a:noFill/>
          <a:ln/>
        </p:spPr>
        <p:txBody>
          <a:bodyPr wrap="square" lIns="0" tIns="0" rIns="0" bIns="0" rtlCol="0" anchor="t">
            <a:spAutoFit/>
          </a:bodyPr>
          <a:lstStyle/>
          <a:p>
            <a:pPr marL="0" indent="0" algn="l">
              <a:buNone/>
            </a:pPr>
            <a:r>
              <a:rPr lang="en-US" sz="1150" b="1" dirty="0">
                <a:solidFill>
                  <a:srgbClr val="FF5A5F"/>
                </a:solidFill>
                <a:latin typeface="Calibri" pitchFamily="34" charset="0"/>
                <a:ea typeface="Inter SemiBold" pitchFamily="34" charset="-122"/>
                <a:cs typeface="Inter SemiBold" pitchFamily="34" charset="-120"/>
              </a:rPr>
              <a:t>TEAM MEMBER: Mann Mahant</a:t>
            </a:r>
            <a:endParaRPr lang="en-US" sz="1150" dirty="0"/>
          </a:p>
        </p:txBody>
      </p:sp>
      <p:sp>
        <p:nvSpPr>
          <p:cNvPr id="16" name="Text 12"/>
          <p:cNvSpPr/>
          <p:nvPr/>
        </p:nvSpPr>
        <p:spPr>
          <a:xfrm>
            <a:off x="500063" y="2575992"/>
            <a:ext cx="3814763" cy="146447"/>
          </a:xfrm>
          <a:prstGeom prst="rect">
            <a:avLst/>
          </a:prstGeom>
          <a:noFill/>
          <a:ln/>
        </p:spPr>
        <p:txBody>
          <a:bodyPr wrap="square" lIns="0" tIns="0" rIns="0" bIns="0" rtlCol="0" anchor="t">
            <a:spAutoFit/>
          </a:bodyPr>
          <a:lstStyle/>
          <a:p>
            <a:pPr marL="0" indent="0" algn="l">
              <a:buNone/>
            </a:pPr>
            <a:r>
              <a:rPr lang="en-US" sz="850" b="1" dirty="0">
                <a:solidFill>
                  <a:srgbClr val="007A86"/>
                </a:solidFill>
                <a:latin typeface="Calibri" pitchFamily="34" charset="0"/>
                <a:ea typeface="Inter SemiBold" pitchFamily="34" charset="-122"/>
                <a:cs typeface="Inter SemiBold" pitchFamily="34" charset="-120"/>
              </a:rPr>
              <a:t>[ROLE / AREA]</a:t>
            </a:r>
            <a:endParaRPr lang="en-US" sz="850" dirty="0"/>
          </a:p>
        </p:txBody>
      </p:sp>
      <p:sp>
        <p:nvSpPr>
          <p:cNvPr id="17" name="Text 13"/>
          <p:cNvSpPr/>
          <p:nvPr/>
        </p:nvSpPr>
        <p:spPr>
          <a:xfrm>
            <a:off x="500063" y="2779588"/>
            <a:ext cx="1240724" cy="134780"/>
          </a:xfrm>
          <a:prstGeom prst="rect">
            <a:avLst/>
          </a:prstGeom>
          <a:noFill/>
          <a:ln/>
        </p:spPr>
        <p:txBody>
          <a:bodyPr wrap="none" lIns="0" tIns="0" rIns="0" bIns="0" rtlCol="0" anchor="t">
            <a:spAutoFit/>
          </a:bodyPr>
          <a:lstStyle/>
          <a:p>
            <a:pPr>
              <a:lnSpc>
                <a:spcPct val="108000"/>
              </a:lnSpc>
            </a:pPr>
            <a:r>
              <a:rPr lang="en-US" sz="850" dirty="0">
                <a:solidFill>
                  <a:srgbClr val="4A5568"/>
                </a:solidFill>
                <a:latin typeface="Calibri" pitchFamily="34" charset="0"/>
                <a:ea typeface="Inter" pitchFamily="34" charset="-122"/>
                <a:cs typeface="Inter" pitchFamily="34" charset="-120"/>
              </a:rPr>
              <a:t>Built: Regulatory/CTD logic  </a:t>
            </a:r>
            <a:endParaRPr lang="en-US" sz="850" dirty="0"/>
          </a:p>
        </p:txBody>
      </p:sp>
      <p:sp>
        <p:nvSpPr>
          <p:cNvPr id="18" name="Shape 14"/>
          <p:cNvSpPr/>
          <p:nvPr/>
        </p:nvSpPr>
        <p:spPr>
          <a:xfrm>
            <a:off x="4672013" y="2147367"/>
            <a:ext cx="4129088" cy="957932"/>
          </a:xfrm>
          <a:prstGeom prst="rect">
            <a:avLst/>
          </a:prstGeom>
          <a:solidFill>
            <a:srgbClr val="F8F9FA"/>
          </a:solidFill>
          <a:ln w="9144">
            <a:solidFill>
              <a:srgbClr val="E2E8F0"/>
            </a:solidFill>
            <a:prstDash val="solid"/>
          </a:ln>
        </p:spPr>
        <p:txBody>
          <a:bodyPr/>
          <a:lstStyle/>
          <a:p>
            <a:endParaRPr/>
          </a:p>
        </p:txBody>
      </p:sp>
      <p:sp>
        <p:nvSpPr>
          <p:cNvPr id="19" name="Text 15"/>
          <p:cNvSpPr/>
          <p:nvPr/>
        </p:nvSpPr>
        <p:spPr>
          <a:xfrm>
            <a:off x="4829175" y="2304529"/>
            <a:ext cx="3814763" cy="176972"/>
          </a:xfrm>
          <a:prstGeom prst="rect">
            <a:avLst/>
          </a:prstGeom>
          <a:noFill/>
          <a:ln/>
        </p:spPr>
        <p:txBody>
          <a:bodyPr wrap="square" lIns="0" tIns="0" rIns="0" bIns="0" rtlCol="0" anchor="t">
            <a:spAutoFit/>
          </a:bodyPr>
          <a:lstStyle/>
          <a:p>
            <a:pPr marL="0" indent="0" algn="l">
              <a:buNone/>
            </a:pPr>
            <a:r>
              <a:rPr lang="en-US" sz="1150" b="1" dirty="0">
                <a:solidFill>
                  <a:srgbClr val="FF5A5F"/>
                </a:solidFill>
                <a:latin typeface="Calibri" pitchFamily="34" charset="0"/>
                <a:ea typeface="Inter SemiBold" pitchFamily="34" charset="-122"/>
                <a:cs typeface="Inter SemiBold" pitchFamily="34" charset="-120"/>
              </a:rPr>
              <a:t>TEAM MEMBER: </a:t>
            </a:r>
            <a:r>
              <a:rPr lang="en-US" sz="1150" b="1" dirty="0" err="1">
                <a:solidFill>
                  <a:srgbClr val="FF5A5F"/>
                </a:solidFill>
                <a:latin typeface="Calibri" pitchFamily="34" charset="0"/>
                <a:ea typeface="Inter SemiBold" pitchFamily="34" charset="-122"/>
                <a:cs typeface="Inter SemiBold" pitchFamily="34" charset="-120"/>
              </a:rPr>
              <a:t>Hoshil</a:t>
            </a:r>
            <a:r>
              <a:rPr lang="en-US" sz="1150" b="1" dirty="0">
                <a:solidFill>
                  <a:srgbClr val="FF5A5F"/>
                </a:solidFill>
                <a:latin typeface="Calibri" pitchFamily="34" charset="0"/>
                <a:ea typeface="Inter SemiBold" pitchFamily="34" charset="-122"/>
                <a:cs typeface="Inter SemiBold" pitchFamily="34" charset="-120"/>
              </a:rPr>
              <a:t> </a:t>
            </a:r>
            <a:r>
              <a:rPr lang="en-US" sz="1150" b="1" dirty="0" err="1">
                <a:solidFill>
                  <a:srgbClr val="FF5A5F"/>
                </a:solidFill>
                <a:latin typeface="Calibri" pitchFamily="34" charset="0"/>
                <a:ea typeface="Inter SemiBold" pitchFamily="34" charset="-122"/>
                <a:cs typeface="Inter SemiBold" pitchFamily="34" charset="-120"/>
              </a:rPr>
              <a:t>Chovatiya</a:t>
            </a:r>
            <a:endParaRPr lang="en-US" sz="1150" dirty="0"/>
          </a:p>
        </p:txBody>
      </p:sp>
      <p:sp>
        <p:nvSpPr>
          <p:cNvPr id="20" name="Text 16"/>
          <p:cNvSpPr/>
          <p:nvPr/>
        </p:nvSpPr>
        <p:spPr>
          <a:xfrm>
            <a:off x="4829175" y="2575992"/>
            <a:ext cx="3814763" cy="146447"/>
          </a:xfrm>
          <a:prstGeom prst="rect">
            <a:avLst/>
          </a:prstGeom>
          <a:noFill/>
          <a:ln/>
        </p:spPr>
        <p:txBody>
          <a:bodyPr wrap="square" lIns="0" tIns="0" rIns="0" bIns="0" rtlCol="0" anchor="t">
            <a:spAutoFit/>
          </a:bodyPr>
          <a:lstStyle/>
          <a:p>
            <a:pPr marL="0" indent="0" algn="l">
              <a:buNone/>
            </a:pPr>
            <a:r>
              <a:rPr lang="en-US" sz="850" b="1" dirty="0">
                <a:solidFill>
                  <a:srgbClr val="007A86"/>
                </a:solidFill>
                <a:latin typeface="Calibri" pitchFamily="34" charset="0"/>
                <a:ea typeface="Inter SemiBold" pitchFamily="34" charset="-122"/>
                <a:cs typeface="Inter SemiBold" pitchFamily="34" charset="-120"/>
              </a:rPr>
              <a:t>[ROLE / AREA]</a:t>
            </a:r>
            <a:endParaRPr lang="en-US" sz="850" dirty="0"/>
          </a:p>
        </p:txBody>
      </p:sp>
      <p:sp>
        <p:nvSpPr>
          <p:cNvPr id="21" name="Text 17"/>
          <p:cNvSpPr/>
          <p:nvPr/>
        </p:nvSpPr>
        <p:spPr>
          <a:xfrm>
            <a:off x="4829175" y="2779588"/>
            <a:ext cx="1348126" cy="134780"/>
          </a:xfrm>
          <a:prstGeom prst="rect">
            <a:avLst/>
          </a:prstGeom>
          <a:noFill/>
          <a:ln/>
        </p:spPr>
        <p:txBody>
          <a:bodyPr wrap="none" lIns="0" tIns="0" rIns="0" bIns="0" rtlCol="0" anchor="t">
            <a:spAutoFit/>
          </a:bodyPr>
          <a:lstStyle/>
          <a:p>
            <a:pPr>
              <a:lnSpc>
                <a:spcPct val="108000"/>
              </a:lnSpc>
            </a:pPr>
            <a:r>
              <a:rPr lang="en-US" sz="850" dirty="0">
                <a:solidFill>
                  <a:srgbClr val="4A5568"/>
                </a:solidFill>
                <a:latin typeface="Calibri" pitchFamily="34" charset="0"/>
                <a:ea typeface="Inter" pitchFamily="34" charset="-122"/>
                <a:cs typeface="Inter" pitchFamily="34" charset="-120"/>
              </a:rPr>
              <a:t>Built: UI + Integration + Demo </a:t>
            </a:r>
            <a:endParaRPr lang="en-US" sz="850" dirty="0"/>
          </a:p>
        </p:txBody>
      </p:sp>
      <p:sp>
        <p:nvSpPr>
          <p:cNvPr id="22" name="Shape 18"/>
          <p:cNvSpPr/>
          <p:nvPr/>
        </p:nvSpPr>
        <p:spPr>
          <a:xfrm>
            <a:off x="342900" y="4129088"/>
            <a:ext cx="8458200" cy="360759"/>
          </a:xfrm>
          <a:prstGeom prst="rect">
            <a:avLst/>
          </a:prstGeom>
          <a:solidFill>
            <a:srgbClr val="000000">
              <a:alpha val="0"/>
            </a:srgbClr>
          </a:solidFill>
          <a:ln/>
        </p:spPr>
        <p:txBody>
          <a:bodyPr/>
          <a:lstStyle/>
          <a:p>
            <a:endParaRPr/>
          </a:p>
        </p:txBody>
      </p:sp>
      <p:sp>
        <p:nvSpPr>
          <p:cNvPr id="23" name="Shape 19"/>
          <p:cNvSpPr/>
          <p:nvPr/>
        </p:nvSpPr>
        <p:spPr>
          <a:xfrm>
            <a:off x="342900" y="4129088"/>
            <a:ext cx="8458200" cy="14288"/>
          </a:xfrm>
          <a:prstGeom prst="rect">
            <a:avLst/>
          </a:prstGeom>
          <a:solidFill>
            <a:srgbClr val="007A86"/>
          </a:solidFill>
          <a:ln/>
        </p:spPr>
        <p:txBody>
          <a:bodyPr/>
          <a:lstStyle/>
          <a:p>
            <a:endParaRPr/>
          </a:p>
        </p:txBody>
      </p:sp>
      <p:sp>
        <p:nvSpPr>
          <p:cNvPr id="24" name="Text 20"/>
          <p:cNvSpPr/>
          <p:nvPr/>
        </p:nvSpPr>
        <p:spPr>
          <a:xfrm>
            <a:off x="342900" y="4129088"/>
            <a:ext cx="8458200" cy="360759"/>
          </a:xfrm>
          <a:prstGeom prst="rect">
            <a:avLst/>
          </a:prstGeom>
          <a:noFill/>
          <a:ln/>
        </p:spPr>
        <p:txBody>
          <a:bodyPr wrap="square" lIns="0" tIns="153035" rIns="0" bIns="0" rtlCol="0" anchor="t">
            <a:spAutoFit/>
          </a:bodyPr>
          <a:lstStyle/>
          <a:p>
            <a:pPr marL="0" indent="0" algn="l">
              <a:buNone/>
            </a:pPr>
            <a:r>
              <a:rPr lang="en-US" sz="1250" dirty="0">
                <a:solidFill>
                  <a:srgbClr val="0B1E36"/>
                </a:solidFill>
                <a:latin typeface="Calibri" pitchFamily="34" charset="0"/>
                <a:ea typeface="Space Grotesk Bold" pitchFamily="34" charset="-122"/>
                <a:cs typeface="Space Grotesk Bold" pitchFamily="34" charset="-120"/>
              </a:rPr>
              <a:t>PharmaGuard — Turning drug safety data into actionable intelligence.</a:t>
            </a:r>
            <a:endParaRPr lang="en-US" sz="1250" dirty="0"/>
          </a:p>
        </p:txBody>
      </p:sp>
      <p:sp>
        <p:nvSpPr>
          <p:cNvPr id="25" name="Text 21"/>
          <p:cNvSpPr/>
          <p:nvPr/>
        </p:nvSpPr>
        <p:spPr>
          <a:xfrm>
            <a:off x="342900" y="4661297"/>
            <a:ext cx="807913" cy="123111"/>
          </a:xfrm>
          <a:prstGeom prst="rect">
            <a:avLst/>
          </a:prstGeom>
          <a:noFill/>
          <a:ln/>
        </p:spPr>
        <p:txBody>
          <a:bodyPr wrap="none" lIns="0" tIns="0" rIns="0" bIns="0" rtlCol="0" anchor="t">
            <a:spAutoFit/>
          </a:bodyPr>
          <a:lstStyle/>
          <a:p>
            <a:pPr marL="0" indent="0" algn="l">
              <a:buNone/>
            </a:pPr>
            <a:r>
              <a:rPr lang="en-US" sz="800" b="1" dirty="0">
                <a:solidFill>
                  <a:srgbClr val="007A86"/>
                </a:solidFill>
                <a:latin typeface="Calibri" pitchFamily="34" charset="0"/>
                <a:ea typeface="Inter SemiBold" pitchFamily="34" charset="-122"/>
                <a:cs typeface="Inter SemiBold" pitchFamily="34" charset="-120"/>
              </a:rPr>
              <a:t>Infinite Developers</a:t>
            </a:r>
            <a:endParaRPr lang="en-US" sz="800" dirty="0"/>
          </a:p>
        </p:txBody>
      </p:sp>
      <p:sp>
        <p:nvSpPr>
          <p:cNvPr id="26" name="Text 22"/>
          <p:cNvSpPr/>
          <p:nvPr/>
        </p:nvSpPr>
        <p:spPr>
          <a:xfrm>
            <a:off x="8676084" y="4679156"/>
            <a:ext cx="125016" cy="121444"/>
          </a:xfrm>
          <a:prstGeom prst="rect">
            <a:avLst/>
          </a:prstGeom>
          <a:noFill/>
          <a:ln/>
        </p:spPr>
        <p:txBody>
          <a:bodyPr wrap="none" lIns="0" tIns="0" rIns="0" bIns="0" rtlCol="0" anchor="t">
            <a:spAutoFit/>
          </a:bodyPr>
          <a:lstStyle/>
          <a:p>
            <a:pPr marL="0" indent="0" algn="l">
              <a:buNone/>
            </a:pPr>
            <a:r>
              <a:rPr lang="en-US" sz="750" dirty="0">
                <a:solidFill>
                  <a:srgbClr val="0B1E36">
                    <a:alpha val="50000"/>
                  </a:srgbClr>
                </a:solidFill>
                <a:latin typeface="Calibri" pitchFamily="34" charset="0"/>
                <a:ea typeface="Inter" pitchFamily="34" charset="-122"/>
                <a:cs typeface="Inter" pitchFamily="34" charset="-120"/>
              </a:rPr>
              <a:t>08</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1007</Words>
  <Application>Microsoft Office PowerPoint</Application>
  <PresentationFormat>On-screen Show (16:9)</PresentationFormat>
  <Paragraphs>152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Deep Lalwani</cp:lastModifiedBy>
  <cp:revision>9</cp:revision>
  <dcterms:created xsi:type="dcterms:W3CDTF">2026-09-15T09:01:00Z</dcterms:created>
  <dcterms:modified xsi:type="dcterms:W3CDTF">2026-09-15T16:29:37Z</dcterms:modified>
</cp:coreProperties>
</file>